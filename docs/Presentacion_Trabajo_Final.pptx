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lySON0YSuCa3YjlZkqq9pV6Jv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1: Buenas tardes a todos. Somos Néstor Campos, Juan Ignacio Gramajo y Natalia Rollán, y hoy les vamos a presentar nuestro trabajo práctico final de Patrones de Diseño: un Sistema de Gestión de Vuelos y Pasajes Aeronáuticos, implementado en C++. A lo largo de la exposición vamos a mostrar cómo resolvimos cinco problemas concretos del dominio aeronáutico aplicando cinco patrones de diseño distintos, y por qué cada uno fue la mejor decisión frente a las alternativas que evaluamos.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1: Nuestro dominio es la gestión aeronáutica comercial: aerolíneas de cabotaje y vuelos regionales. El sistema tiene que manejar cuatro grandes bloques, que ven acá a la derecha: la emisión de pasajes por clase, la personalización con servicios adicionales, el control estricto del proceso de embarque, y el aviso automático de incidentes operativos como demoras o cambios de puerta. Lo importante es entender que la dificultad no está en la funcionalidad en sí, sino en diseñar un sistema que pueda crecer -nuevas clases de pasaje, nuevos servicios, nuevos estados- sin tener que reescribir el código existente cada vez. Ese fue el desafío que nos llevó a aplicar patrones de diseño.</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2: Gracias, Néstor. Empiezo con el primer patrón: Factory Method, aplicado a la emisión de pasajes. El problema es simple de imaginar: si el módulo de ventas conociera directamente las clases PasajeEconomy y PasajeBusiness, cada nueva categoría -como Premium Economy- nos obligaría a modificar el código de facturación en varios lugares. La solución fue definir pasajeFactory como creador abstracto, con un método fábrica crearPasaje() que cada subclase concreta sobrescribe. Lo interesante es que venderPasaje() no es un simple envoltorio del new: ahí vive la lógica de negocio real -valida disponibilidad, reserva el asiento y suscribe al pasajero al vuelo- y solo delega la instanciación al método fábrica. Así, el sistema de reservas trabaja siempre contra la abstracción pasajeComponent, nunca contra una clase concreta.</a:t>
            </a:r>
            <a:endParaRPr/>
          </a:p>
        </p:txBody>
      </p:sp>
      <p:sp>
        <p:nvSpPr>
          <p:cNvPr id="57" name="Google Shape;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2: El segundo patrón es Decorator, y resuelve la personalización del viaje. Si quisiéramos sumar equipaje extra y acceso VIP con herencia tradicional, terminaríamos con clases como PasajeBusinessConVip, y esa combinatoria crece sin control. En cambio, decoradorServicio envuelve dinámicamente al pasaje base: cada decorador implementa la misma interfaz pasajeComponent, así que el sistema lo sigue tratando como un pasaje común. Como ven en el gráfico, la pila se arma en tiempo de ejecución -acá el pasaje Economy envuelto primero en equipaje extra y después en acceso VIP- y cuando se pide el costo total, la llamada atraviesa toda la pila sumando cada capa. Es una solución que permite combinaciones infinitas de servicios sin tocar la clase base del pasaje ni el módulo de facturación.</a:t>
            </a:r>
            <a:endParaRPr/>
          </a:p>
        </p:txBody>
      </p:sp>
      <p:sp>
        <p:nvSpPr>
          <p:cNvPr id="74" name="Google Shape;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3e9ba4d12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3e9ba4d12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f3e9ba4d12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3: El último patrón de esta sección es Observer, para las notificaciones de novedades del vuelo. La clase vuelo actúa como sujeto concreto y mantiene una lista de observadores que implementan la interfaz observadorVuelo; ahí pueden registrarse la app de los pasajeros, la pantalla del aeropuerto o el sistema de asignación de tripulación. Cuando el vuelo se reprograma o cambia de puerta, arma un objeto eventoVuelo con la novedad y lo empuja hacia todos sus observadores, sin conocer nunca las clases concretas. Elegimos el modelo push -enviar los datos del cambio ya empaquetados- en lugar de que cada observador tenga que preguntarle al vuelo qué cambió, porque así protegemos mejor el estado interno de la clase vuelo. Gracias a este diseño pudimos sumar la pantalla del aeropuerto al sistema sin modificar una sola línea de la clase vuelo.</a:t>
            </a:r>
            <a:endParaRPr/>
          </a:p>
        </p:txBody>
      </p:sp>
      <p:sp>
        <p:nvSpPr>
          <p:cNvPr id="99" name="Google Shape;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3e9ba4d12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3e9ba4d12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f3e9ba4d12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2: El tercer patrón es State, para el ciclo de vida del pasaje. El pasaje pasa por etapas bien definidas -emitido, check-in, abordaje o cancelado- y solo ciertas transiciones son válidas: por ejemplo, no se puede cancelar un pasaje que ya abordó. En vez de resolver esto con banderas booleanas y condicionales anidados, encapsulamos el comportamiento de cada etapa en un objeto de estado independiente. pasajeBase, que es el contexto, delega cada operación en su estado actual, pasándose a sí mismo como parámetro para que el estado decida si la transición es válida o lanza una excepción. Esto nos permite agregar nuevos estados operativos de forma limpia, sin tocar el resto del sistema. Con esto cierro mi parte y le paso la palabra a Natalia para Singleton y Observer.</a:t>
            </a:r>
            <a:endParaRPr/>
          </a:p>
        </p:txBody>
      </p:sp>
      <p:sp>
        <p:nvSpPr>
          <p:cNvPr id="139" name="Google Shape;1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3: Gracias, Juan. Sigo con Singleton, aplicado a sistemaAerolinea y a los estados del pasaje. El problema es de concurrencia: el módulo de emisión, el check-in en los mostradores y el despachador de notificaciones necesitan interactuar todo el tiempo con el mismo listado de vuelos activos. Si cada uno tuviera su propia instancia, perderíamos la sincronización y podríamos vender el mismo asiento dos veces. La solución clásica: constructor privado para que nadie pueda instanciar con new, y un método estático que crea la instancia la primera vez y siempre devuelve la misma después. En C++ lo implementamos con una variable estática local a la función, que además nos da inicialización perezosa y segura frente a hilos de forma automática. Aplicamos exactamente la misma idea en los estados de State: como no tienen atributos propios, una sola instancia compartida alcanza para todo el sistema y evitamos el desperdicio de memoria.</a:t>
            </a:r>
            <a:endParaRPr/>
          </a:p>
        </p:txBody>
      </p:sp>
      <p:sp>
        <p:nvSpPr>
          <p:cNvPr id="168" name="Google Shape;1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e49ea8e1bc40e27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e49ea8e1bc40e27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7e49ea8e1bc40e27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3: Para cerrar: hacer este trabajo nos hizo entender que, además de cumplir los requisitos funcionales del dominio aeronáutico, había que priorizar la calidad del diseño. Pensar la arquitectura a través de patrones nos ayudó a evitar los problemas más comunes, como el código acoplado o el abuso de condicionales. Aplicamos cada patrón con un objetivo claro -Factory Method para no depender de instanciaciones directas, Decorator para vender servicios de forma dinámica, State para controlar los estados del pasaje de forma segura, Observer para descentralizar la información, y Singleton, que en C++ nos enseñó a tener mucho más control sobre el uso de memoria. En definitiva, el proyecto nos demostró que los patrones de diseño son herramientas reales, no solo teoría de cátedra.</a:t>
            </a:r>
            <a:endParaRPr/>
          </a:p>
        </p:txBody>
      </p:sp>
      <p:sp>
        <p:nvSpPr>
          <p:cNvPr id="195" name="Google Shape;1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ORADOR 3: Muchas gracias por su atención. Quedamos los tres a disposición para cualquier pregunta sobre el diseño, el código en C++ o las decisiones que tomamos durante el proyecto.</a:t>
            </a:r>
            <a:endParaRPr/>
          </a:p>
        </p:txBody>
      </p:sp>
      <p:sp>
        <p:nvSpPr>
          <p:cNvPr id="218" name="Google Shape;21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8138160" y="0"/>
            <a:ext cx="4050792" cy="6858000"/>
          </a:xfrm>
          <a:prstGeom prst="rect">
            <a:avLst/>
          </a:prstGeom>
          <a:solidFill>
            <a:srgbClr val="0B3D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778240" y="4892040"/>
            <a:ext cx="4754880" cy="475488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561320" y="822960"/>
            <a:ext cx="2377440" cy="237744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departure_white.png" id="19" name="Google Shape;19;p1"/>
          <p:cNvPicPr preferRelativeResize="0"/>
          <p:nvPr/>
        </p:nvPicPr>
        <p:blipFill rotWithShape="1">
          <a:blip r:embed="rId3">
            <a:alphaModFix/>
          </a:blip>
          <a:srcRect b="0" l="0" r="0" t="0"/>
          <a:stretch/>
        </p:blipFill>
        <p:spPr>
          <a:xfrm>
            <a:off x="9646920" y="2788920"/>
            <a:ext cx="1417320" cy="1417320"/>
          </a:xfrm>
          <a:prstGeom prst="rect">
            <a:avLst/>
          </a:prstGeom>
          <a:noFill/>
          <a:ln>
            <a:noFill/>
          </a:ln>
        </p:spPr>
      </p:pic>
      <p:sp>
        <p:nvSpPr>
          <p:cNvPr id="20" name="Google Shape;20;p1"/>
          <p:cNvSpPr/>
          <p:nvPr/>
        </p:nvSpPr>
        <p:spPr>
          <a:xfrm>
            <a:off x="685800" y="1508760"/>
            <a:ext cx="6949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8A9B"/>
              </a:buClr>
              <a:buSzPts val="1300"/>
              <a:buFont typeface="Calibri"/>
              <a:buNone/>
            </a:pPr>
            <a:r>
              <a:rPr b="1" i="0" lang="en-US" sz="1300" u="none" cap="none" strike="noStrike">
                <a:solidFill>
                  <a:srgbClr val="1B8A9B"/>
                </a:solidFill>
                <a:latin typeface="Calibri"/>
                <a:ea typeface="Calibri"/>
                <a:cs typeface="Calibri"/>
                <a:sym typeface="Calibri"/>
              </a:rPr>
              <a:t>PATRONES DE DISEÑO · </a:t>
            </a:r>
            <a:r>
              <a:rPr b="1" lang="en-US" sz="1300">
                <a:solidFill>
                  <a:srgbClr val="1B8A9B"/>
                </a:solidFill>
                <a:latin typeface="Calibri"/>
                <a:ea typeface="Calibri"/>
                <a:cs typeface="Calibri"/>
                <a:sym typeface="Calibri"/>
              </a:rPr>
              <a:t>PROYECTO </a:t>
            </a:r>
            <a:r>
              <a:rPr b="1" i="0" lang="en-US" sz="1300" u="none" cap="none" strike="noStrike">
                <a:solidFill>
                  <a:srgbClr val="1B8A9B"/>
                </a:solidFill>
                <a:latin typeface="Calibri"/>
                <a:ea typeface="Calibri"/>
                <a:cs typeface="Calibri"/>
                <a:sym typeface="Calibri"/>
              </a:rPr>
              <a:t>FINAL</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685800" y="1965960"/>
            <a:ext cx="7223760" cy="1920240"/>
          </a:xfrm>
          <a:prstGeom prst="rect">
            <a:avLst/>
          </a:prstGeom>
          <a:noFill/>
          <a:ln>
            <a:noFill/>
          </a:ln>
        </p:spPr>
        <p:txBody>
          <a:bodyPr anchorCtr="0" anchor="ctr" bIns="45700" lIns="91425" spcFirstLastPara="1" rIns="91425" wrap="square" tIns="45700">
            <a:noAutofit/>
          </a:bodyPr>
          <a:lstStyle/>
          <a:p>
            <a:pPr indent="0" lvl="0" marL="0" marR="0" rtl="0" algn="l">
              <a:lnSpc>
                <a:spcPct val="110526"/>
              </a:lnSpc>
              <a:spcBef>
                <a:spcPts val="0"/>
              </a:spcBef>
              <a:spcAft>
                <a:spcPts val="0"/>
              </a:spcAft>
              <a:buClr>
                <a:srgbClr val="0B3D59"/>
              </a:buClr>
              <a:buSzPts val="3800"/>
              <a:buFont typeface="Cambria"/>
              <a:buNone/>
            </a:pPr>
            <a:r>
              <a:rPr b="1" i="0" lang="en-US" sz="3800" u="none" cap="none" strike="noStrike">
                <a:solidFill>
                  <a:srgbClr val="0B3D59"/>
                </a:solidFill>
                <a:latin typeface="Cambria"/>
                <a:ea typeface="Cambria"/>
                <a:cs typeface="Cambria"/>
                <a:sym typeface="Cambria"/>
              </a:rPr>
              <a:t>Sistema de Gestión de</a:t>
            </a:r>
            <a:endParaRPr b="0" i="0" sz="3800" u="none" cap="none" strike="noStrike">
              <a:solidFill>
                <a:schemeClr val="dk1"/>
              </a:solidFill>
              <a:latin typeface="Calibri"/>
              <a:ea typeface="Calibri"/>
              <a:cs typeface="Calibri"/>
              <a:sym typeface="Calibri"/>
            </a:endParaRPr>
          </a:p>
          <a:p>
            <a:pPr indent="0" lvl="0" marL="0" marR="0" rtl="0" algn="l">
              <a:lnSpc>
                <a:spcPct val="110526"/>
              </a:lnSpc>
              <a:spcBef>
                <a:spcPts val="0"/>
              </a:spcBef>
              <a:spcAft>
                <a:spcPts val="0"/>
              </a:spcAft>
              <a:buClr>
                <a:srgbClr val="0B3D59"/>
              </a:buClr>
              <a:buSzPts val="3800"/>
              <a:buFont typeface="Cambria"/>
              <a:buNone/>
            </a:pPr>
            <a:r>
              <a:rPr b="1" i="0" lang="en-US" sz="3800" u="none" cap="none" strike="noStrike">
                <a:solidFill>
                  <a:srgbClr val="0B3D59"/>
                </a:solidFill>
                <a:latin typeface="Cambria"/>
                <a:ea typeface="Cambria"/>
                <a:cs typeface="Cambria"/>
                <a:sym typeface="Cambria"/>
              </a:rPr>
              <a:t>Vuelos y Pasajes Aeronáuticos</a:t>
            </a:r>
            <a:endParaRPr b="0" i="0" sz="3800" u="none" cap="none" strike="noStrike">
              <a:solidFill>
                <a:schemeClr val="dk1"/>
              </a:solidFill>
              <a:latin typeface="Calibri"/>
              <a:ea typeface="Calibri"/>
              <a:cs typeface="Calibri"/>
              <a:sym typeface="Calibri"/>
            </a:endParaRPr>
          </a:p>
        </p:txBody>
      </p:sp>
      <p:sp>
        <p:nvSpPr>
          <p:cNvPr id="22" name="Google Shape;22;p1"/>
          <p:cNvSpPr/>
          <p:nvPr/>
        </p:nvSpPr>
        <p:spPr>
          <a:xfrm>
            <a:off x="685800" y="3977640"/>
            <a:ext cx="704088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40740"/>
              </a:lnSpc>
              <a:spcBef>
                <a:spcPts val="0"/>
              </a:spcBef>
              <a:spcAft>
                <a:spcPts val="0"/>
              </a:spcAft>
              <a:buClr>
                <a:srgbClr val="5B7480"/>
              </a:buClr>
              <a:buSzPts val="1350"/>
              <a:buFont typeface="Calibri"/>
              <a:buNone/>
            </a:pPr>
            <a:r>
              <a:rPr b="0" i="1" lang="en-US" sz="1350" u="none" cap="none" strike="noStrike">
                <a:solidFill>
                  <a:srgbClr val="5B7480"/>
                </a:solidFill>
                <a:latin typeface="Calibri"/>
                <a:ea typeface="Calibri"/>
                <a:cs typeface="Calibri"/>
                <a:sym typeface="Calibri"/>
              </a:rPr>
              <a:t>Diseño orientado a objetos aplicado a la gestión de pasajes,</a:t>
            </a:r>
            <a:endParaRPr i="1" sz="1350">
              <a:solidFill>
                <a:srgbClr val="5B7480"/>
              </a:solidFill>
              <a:latin typeface="Calibri"/>
              <a:ea typeface="Calibri"/>
              <a:cs typeface="Calibri"/>
              <a:sym typeface="Calibri"/>
            </a:endParaRPr>
          </a:p>
          <a:p>
            <a:pPr indent="0" lvl="0" marL="0" marR="0" rtl="0" algn="l">
              <a:lnSpc>
                <a:spcPct val="140740"/>
              </a:lnSpc>
              <a:spcBef>
                <a:spcPts val="0"/>
              </a:spcBef>
              <a:spcAft>
                <a:spcPts val="0"/>
              </a:spcAft>
              <a:buClr>
                <a:srgbClr val="5B7480"/>
              </a:buClr>
              <a:buSzPts val="1350"/>
              <a:buFont typeface="Calibri"/>
              <a:buNone/>
            </a:pPr>
            <a:r>
              <a:rPr b="0" i="1" lang="en-US" sz="1350" u="none" cap="none" strike="noStrike">
                <a:solidFill>
                  <a:srgbClr val="5B7480"/>
                </a:solidFill>
                <a:latin typeface="Calibri"/>
                <a:ea typeface="Calibri"/>
                <a:cs typeface="Calibri"/>
                <a:sym typeface="Calibri"/>
              </a:rPr>
              <a:t>servicios y vuelos regionales</a:t>
            </a:r>
            <a:r>
              <a:rPr i="1" lang="en-US" sz="1350">
                <a:solidFill>
                  <a:srgbClr val="5B7480"/>
                </a:solidFill>
                <a:latin typeface="Calibri"/>
                <a:ea typeface="Calibri"/>
                <a:cs typeface="Calibri"/>
                <a:sym typeface="Calibri"/>
              </a:rPr>
              <a:t>.</a:t>
            </a:r>
            <a:endParaRPr b="0" i="0" sz="1350" u="none" cap="none" strike="noStrike">
              <a:solidFill>
                <a:schemeClr val="dk1"/>
              </a:solidFill>
              <a:latin typeface="Calibri"/>
              <a:ea typeface="Calibri"/>
              <a:cs typeface="Calibri"/>
              <a:sym typeface="Calibri"/>
            </a:endParaRPr>
          </a:p>
        </p:txBody>
      </p:sp>
      <p:cxnSp>
        <p:nvCxnSpPr>
          <p:cNvPr id="23" name="Google Shape;23;p1"/>
          <p:cNvCxnSpPr/>
          <p:nvPr/>
        </p:nvCxnSpPr>
        <p:spPr>
          <a:xfrm>
            <a:off x="713232" y="4892040"/>
            <a:ext cx="1828800" cy="0"/>
          </a:xfrm>
          <a:prstGeom prst="straightConnector1">
            <a:avLst/>
          </a:prstGeom>
          <a:noFill/>
          <a:ln cap="flat" cmpd="sng" w="31750">
            <a:solidFill>
              <a:srgbClr val="E8A33D"/>
            </a:solidFill>
            <a:prstDash val="solid"/>
            <a:round/>
            <a:headEnd len="sm" w="sm" type="none"/>
            <a:tailEnd len="sm" w="sm" type="none"/>
          </a:ln>
        </p:spPr>
      </p:cxnSp>
      <p:sp>
        <p:nvSpPr>
          <p:cNvPr id="24" name="Google Shape;24;p1"/>
          <p:cNvSpPr/>
          <p:nvPr/>
        </p:nvSpPr>
        <p:spPr>
          <a:xfrm>
            <a:off x="685800" y="5074920"/>
            <a:ext cx="7040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242B"/>
              </a:buClr>
              <a:buSzPts val="1250"/>
              <a:buFont typeface="Calibri"/>
              <a:buNone/>
            </a:pPr>
            <a:r>
              <a:rPr b="1" i="0" lang="en-US" sz="1250" u="none" cap="none" strike="noStrike">
                <a:solidFill>
                  <a:srgbClr val="17242B"/>
                </a:solidFill>
                <a:latin typeface="Calibri"/>
                <a:ea typeface="Calibri"/>
                <a:cs typeface="Calibri"/>
                <a:sym typeface="Calibri"/>
              </a:rPr>
              <a:t>Autores: </a:t>
            </a:r>
            <a:r>
              <a:rPr b="0" i="0" lang="en-US" sz="1250" u="none" cap="none" strike="noStrike">
                <a:solidFill>
                  <a:srgbClr val="17242B"/>
                </a:solidFill>
                <a:latin typeface="Calibri"/>
                <a:ea typeface="Calibri"/>
                <a:cs typeface="Calibri"/>
                <a:sym typeface="Calibri"/>
              </a:rPr>
              <a:t>Campos Néstor Nazaret · Gramajo Juan Ignacio · Rollán Natalia</a:t>
            </a:r>
            <a:endParaRPr b="0" i="0" sz="1250" u="none" cap="none" strike="noStrike">
              <a:solidFill>
                <a:schemeClr val="dk1"/>
              </a:solidFill>
              <a:latin typeface="Calibri"/>
              <a:ea typeface="Calibri"/>
              <a:cs typeface="Calibri"/>
              <a:sym typeface="Calibri"/>
            </a:endParaRPr>
          </a:p>
        </p:txBody>
      </p:sp>
      <p:sp>
        <p:nvSpPr>
          <p:cNvPr id="25" name="Google Shape;25;p1"/>
          <p:cNvSpPr/>
          <p:nvPr/>
        </p:nvSpPr>
        <p:spPr>
          <a:xfrm>
            <a:off x="685800" y="5486400"/>
            <a:ext cx="70408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36363"/>
              </a:lnSpc>
              <a:spcBef>
                <a:spcPts val="0"/>
              </a:spcBef>
              <a:spcAft>
                <a:spcPts val="0"/>
              </a:spcAft>
              <a:buClr>
                <a:srgbClr val="5B7480"/>
              </a:buClr>
              <a:buSzPts val="1100"/>
              <a:buFont typeface="Calibri"/>
              <a:buNone/>
            </a:pPr>
            <a:r>
              <a:rPr b="0" i="0" lang="en-US" sz="1100" u="none" cap="none" strike="noStrike">
                <a:solidFill>
                  <a:srgbClr val="5B7480"/>
                </a:solidFill>
                <a:latin typeface="Calibri"/>
                <a:ea typeface="Calibri"/>
                <a:cs typeface="Calibri"/>
                <a:sym typeface="Calibri"/>
              </a:rPr>
              <a:t>Universidad Nacional de Tucumán · Facultad de Ciencias Exactas y Tecnología</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5B7480"/>
              </a:buClr>
              <a:buSzPts val="1100"/>
              <a:buFont typeface="Calibri"/>
              <a:buNone/>
            </a:pPr>
            <a:r>
              <a:rPr b="0" i="0" lang="en-US" sz="1100" u="none" cap="none" strike="noStrike">
                <a:solidFill>
                  <a:srgbClr val="5B7480"/>
                </a:solidFill>
                <a:latin typeface="Calibri"/>
                <a:ea typeface="Calibri"/>
                <a:cs typeface="Calibri"/>
                <a:sym typeface="Calibri"/>
              </a:rPr>
              <a:t>Licenciatura en Informática — Departamento de Ciencias de Computación · 2026</a:t>
            </a:r>
            <a:endParaRPr b="0" i="0" sz="1100" u="none" cap="none" strike="noStrike">
              <a:solidFill>
                <a:schemeClr val="dk1"/>
              </a:solidFill>
              <a:latin typeface="Calibri"/>
              <a:ea typeface="Calibri"/>
              <a:cs typeface="Calibri"/>
              <a:sym typeface="Calibri"/>
            </a:endParaRPr>
          </a:p>
        </p:txBody>
      </p:sp>
      <p:sp>
        <p:nvSpPr>
          <p:cNvPr id="26" name="Google Shape;26;p1"/>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3"/>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8A9B"/>
              </a:buClr>
              <a:buSzPts val="1250"/>
              <a:buFont typeface="Calibri"/>
              <a:buNone/>
            </a:pPr>
            <a:r>
              <a:rPr b="1" i="0" lang="en-US" sz="1250" u="none" cap="none" strike="noStrike">
                <a:solidFill>
                  <a:srgbClr val="1B8A9B"/>
                </a:solidFill>
                <a:latin typeface="Calibri"/>
                <a:ea typeface="Calibri"/>
                <a:cs typeface="Calibri"/>
                <a:sym typeface="Calibri"/>
              </a:rPr>
              <a:t>1. DESCRIPCIÓN DEL DOMINIO</a:t>
            </a:r>
            <a:endParaRPr b="0" i="0" sz="1250" u="none" cap="none" strike="noStrike">
              <a:solidFill>
                <a:schemeClr val="dk1"/>
              </a:solidFill>
              <a:latin typeface="Calibri"/>
              <a:ea typeface="Calibri"/>
              <a:cs typeface="Calibri"/>
              <a:sym typeface="Calibri"/>
            </a:endParaRPr>
          </a:p>
        </p:txBody>
      </p:sp>
      <p:sp>
        <p:nvSpPr>
          <p:cNvPr id="34" name="Google Shape;34;p3"/>
          <p:cNvSpPr/>
          <p:nvPr/>
        </p:nvSpPr>
        <p:spPr>
          <a:xfrm>
            <a:off x="640068" y="875650"/>
            <a:ext cx="67665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Gestión aeronáutica comercial</a:t>
            </a:r>
            <a:endParaRPr b="0" i="0" sz="3200" u="none" cap="none" strike="noStrike">
              <a:solidFill>
                <a:schemeClr val="dk1"/>
              </a:solidFill>
              <a:latin typeface="Calibri"/>
              <a:ea typeface="Calibri"/>
              <a:cs typeface="Calibri"/>
              <a:sym typeface="Calibri"/>
            </a:endParaRPr>
          </a:p>
        </p:txBody>
      </p:sp>
      <p:sp>
        <p:nvSpPr>
          <p:cNvPr id="35" name="Google Shape;35;p3"/>
          <p:cNvSpPr/>
          <p:nvPr/>
        </p:nvSpPr>
        <p:spPr>
          <a:xfrm>
            <a:off x="1039175" y="2350025"/>
            <a:ext cx="4905000" cy="24780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17242B"/>
              </a:buClr>
              <a:buSzPts val="1400"/>
              <a:buFont typeface="Calibri"/>
              <a:buNone/>
            </a:pPr>
            <a:r>
              <a:rPr b="0" i="0" lang="en-US" sz="1400" u="none" cap="none" strike="noStrike">
                <a:solidFill>
                  <a:srgbClr val="17242B"/>
                </a:solidFill>
                <a:latin typeface="Calibri"/>
                <a:ea typeface="Calibri"/>
                <a:cs typeface="Calibri"/>
                <a:sym typeface="Calibri"/>
              </a:rPr>
              <a:t>El sistema administra el ciclo de vida de un pasaje</a:t>
            </a:r>
            <a:r>
              <a:rPr lang="en-US">
                <a:solidFill>
                  <a:srgbClr val="17242B"/>
                </a:solidFill>
                <a:latin typeface="Calibri"/>
                <a:ea typeface="Calibri"/>
                <a:cs typeface="Calibri"/>
                <a:sym typeface="Calibri"/>
              </a:rPr>
              <a:t> para</a:t>
            </a:r>
            <a:r>
              <a:rPr b="0" i="0" lang="en-US" sz="1400" u="none" cap="none" strike="noStrike">
                <a:solidFill>
                  <a:srgbClr val="17242B"/>
                </a:solidFill>
                <a:latin typeface="Calibri"/>
                <a:ea typeface="Calibri"/>
                <a:cs typeface="Calibri"/>
                <a:sym typeface="Calibri"/>
              </a:rPr>
              <a:t> vuelos de cabotaje y regionales: desde la emisión del ticket según su clase, la personalización del viaje con servicios adicionales, el control del embarque, hasta la comunicación automática de posibles incidentes operativos en tiempo real.</a:t>
            </a:r>
            <a:endParaRPr b="0" i="0" sz="1400" u="none" cap="none" strike="noStrike">
              <a:solidFill>
                <a:schemeClr val="dk1"/>
              </a:solidFill>
              <a:latin typeface="Calibri"/>
              <a:ea typeface="Calibri"/>
              <a:cs typeface="Calibri"/>
              <a:sym typeface="Calibri"/>
            </a:endParaRPr>
          </a:p>
        </p:txBody>
      </p:sp>
      <p:sp>
        <p:nvSpPr>
          <p:cNvPr id="36" name="Google Shape;36;p3"/>
          <p:cNvSpPr/>
          <p:nvPr/>
        </p:nvSpPr>
        <p:spPr>
          <a:xfrm>
            <a:off x="7261868" y="1360165"/>
            <a:ext cx="731400" cy="731400"/>
          </a:xfrm>
          <a:prstGeom prst="ellipse">
            <a:avLst/>
          </a:prstGeom>
          <a:solidFill>
            <a:srgbClr val="1B8A9B"/>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ticket_white.png" id="37" name="Google Shape;37;p3"/>
          <p:cNvPicPr preferRelativeResize="0"/>
          <p:nvPr/>
        </p:nvPicPr>
        <p:blipFill rotWithShape="1">
          <a:blip r:embed="rId3">
            <a:alphaModFix/>
          </a:blip>
          <a:srcRect b="0" l="0" r="0" t="0"/>
          <a:stretch/>
        </p:blipFill>
        <p:spPr>
          <a:xfrm>
            <a:off x="7437433" y="1535730"/>
            <a:ext cx="380390" cy="380390"/>
          </a:xfrm>
          <a:prstGeom prst="rect">
            <a:avLst/>
          </a:prstGeom>
          <a:noFill/>
          <a:ln>
            <a:noFill/>
          </a:ln>
        </p:spPr>
      </p:pic>
      <p:sp>
        <p:nvSpPr>
          <p:cNvPr id="38" name="Google Shape;38;p3"/>
          <p:cNvSpPr/>
          <p:nvPr/>
        </p:nvSpPr>
        <p:spPr>
          <a:xfrm>
            <a:off x="8130548" y="1378453"/>
            <a:ext cx="342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Emisión de pasajes</a:t>
            </a:r>
            <a:endParaRPr b="0" i="0" sz="1300" u="none" cap="none" strike="noStrike">
              <a:solidFill>
                <a:schemeClr val="dk1"/>
              </a:solidFill>
              <a:latin typeface="Calibri"/>
              <a:ea typeface="Calibri"/>
              <a:cs typeface="Calibri"/>
              <a:sym typeface="Calibri"/>
            </a:endParaRPr>
          </a:p>
        </p:txBody>
      </p:sp>
      <p:sp>
        <p:nvSpPr>
          <p:cNvPr id="39" name="Google Shape;39;p3"/>
          <p:cNvSpPr/>
          <p:nvPr/>
        </p:nvSpPr>
        <p:spPr>
          <a:xfrm>
            <a:off x="8130548" y="1698493"/>
            <a:ext cx="342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5B7480"/>
              </a:buClr>
              <a:buSzPts val="1050"/>
              <a:buFont typeface="Calibri"/>
              <a:buNone/>
            </a:pPr>
            <a:r>
              <a:rPr b="0" i="0" lang="en-US" sz="1050" u="none" cap="none" strike="noStrike">
                <a:solidFill>
                  <a:srgbClr val="5B7480"/>
                </a:solidFill>
                <a:latin typeface="Calibri"/>
                <a:ea typeface="Calibri"/>
                <a:cs typeface="Calibri"/>
                <a:sym typeface="Calibri"/>
              </a:rPr>
              <a:t>Economy y Business, con reglas propias por clase</a:t>
            </a:r>
            <a:endParaRPr b="0" i="0" sz="1050" u="none" cap="none" strike="noStrike">
              <a:solidFill>
                <a:schemeClr val="dk1"/>
              </a:solidFill>
              <a:latin typeface="Calibri"/>
              <a:ea typeface="Calibri"/>
              <a:cs typeface="Calibri"/>
              <a:sym typeface="Calibri"/>
            </a:endParaRPr>
          </a:p>
        </p:txBody>
      </p:sp>
      <p:sp>
        <p:nvSpPr>
          <p:cNvPr id="40" name="Google Shape;40;p3"/>
          <p:cNvSpPr/>
          <p:nvPr/>
        </p:nvSpPr>
        <p:spPr>
          <a:xfrm>
            <a:off x="7261868" y="2530597"/>
            <a:ext cx="731400" cy="731400"/>
          </a:xfrm>
          <a:prstGeom prst="ellipse">
            <a:avLst/>
          </a:prstGeom>
          <a:solidFill>
            <a:srgbClr val="1B8A9B"/>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suitcase_white.png" id="41" name="Google Shape;41;p3"/>
          <p:cNvPicPr preferRelativeResize="0"/>
          <p:nvPr/>
        </p:nvPicPr>
        <p:blipFill rotWithShape="1">
          <a:blip r:embed="rId4">
            <a:alphaModFix/>
          </a:blip>
          <a:srcRect b="0" l="0" r="0" t="0"/>
          <a:stretch/>
        </p:blipFill>
        <p:spPr>
          <a:xfrm>
            <a:off x="7437433" y="2706162"/>
            <a:ext cx="380390" cy="380390"/>
          </a:xfrm>
          <a:prstGeom prst="rect">
            <a:avLst/>
          </a:prstGeom>
          <a:noFill/>
          <a:ln>
            <a:noFill/>
          </a:ln>
        </p:spPr>
      </p:pic>
      <p:sp>
        <p:nvSpPr>
          <p:cNvPr id="42" name="Google Shape;42;p3"/>
          <p:cNvSpPr/>
          <p:nvPr/>
        </p:nvSpPr>
        <p:spPr>
          <a:xfrm>
            <a:off x="8130548" y="2548885"/>
            <a:ext cx="342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Personalización</a:t>
            </a:r>
            <a:endParaRPr b="0" i="0" sz="1300" u="none" cap="none" strike="noStrike">
              <a:solidFill>
                <a:schemeClr val="dk1"/>
              </a:solidFill>
              <a:latin typeface="Calibri"/>
              <a:ea typeface="Calibri"/>
              <a:cs typeface="Calibri"/>
              <a:sym typeface="Calibri"/>
            </a:endParaRPr>
          </a:p>
        </p:txBody>
      </p:sp>
      <p:sp>
        <p:nvSpPr>
          <p:cNvPr id="43" name="Google Shape;43;p3"/>
          <p:cNvSpPr/>
          <p:nvPr/>
        </p:nvSpPr>
        <p:spPr>
          <a:xfrm>
            <a:off x="8130548" y="2868925"/>
            <a:ext cx="342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5B7480"/>
              </a:buClr>
              <a:buSzPts val="1050"/>
              <a:buFont typeface="Calibri"/>
              <a:buNone/>
            </a:pPr>
            <a:r>
              <a:rPr b="0" i="0" lang="en-US" sz="1050" u="none" cap="none" strike="noStrike">
                <a:solidFill>
                  <a:srgbClr val="5B7480"/>
                </a:solidFill>
                <a:latin typeface="Calibri"/>
                <a:ea typeface="Calibri"/>
                <a:cs typeface="Calibri"/>
                <a:sym typeface="Calibri"/>
              </a:rPr>
              <a:t>Equipaje extra y acceso a Salón VIP sobre el pasaje base</a:t>
            </a:r>
            <a:endParaRPr b="0" i="0" sz="1050" u="none" cap="none" strike="noStrike">
              <a:solidFill>
                <a:schemeClr val="dk1"/>
              </a:solidFill>
              <a:latin typeface="Calibri"/>
              <a:ea typeface="Calibri"/>
              <a:cs typeface="Calibri"/>
              <a:sym typeface="Calibri"/>
            </a:endParaRPr>
          </a:p>
        </p:txBody>
      </p:sp>
      <p:sp>
        <p:nvSpPr>
          <p:cNvPr id="44" name="Google Shape;44;p3"/>
          <p:cNvSpPr/>
          <p:nvPr/>
        </p:nvSpPr>
        <p:spPr>
          <a:xfrm>
            <a:off x="7261868" y="3701029"/>
            <a:ext cx="731400" cy="731400"/>
          </a:xfrm>
          <a:prstGeom prst="ellipse">
            <a:avLst/>
          </a:prstGeom>
          <a:solidFill>
            <a:srgbClr val="1B8A9B"/>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clock_white.png" id="45" name="Google Shape;45;p3"/>
          <p:cNvPicPr preferRelativeResize="0"/>
          <p:nvPr/>
        </p:nvPicPr>
        <p:blipFill rotWithShape="1">
          <a:blip r:embed="rId5">
            <a:alphaModFix/>
          </a:blip>
          <a:srcRect b="0" l="0" r="0" t="0"/>
          <a:stretch/>
        </p:blipFill>
        <p:spPr>
          <a:xfrm>
            <a:off x="7437433" y="3876594"/>
            <a:ext cx="380390" cy="380390"/>
          </a:xfrm>
          <a:prstGeom prst="rect">
            <a:avLst/>
          </a:prstGeom>
          <a:noFill/>
          <a:ln>
            <a:noFill/>
          </a:ln>
        </p:spPr>
      </p:pic>
      <p:sp>
        <p:nvSpPr>
          <p:cNvPr id="46" name="Google Shape;46;p3"/>
          <p:cNvSpPr/>
          <p:nvPr/>
        </p:nvSpPr>
        <p:spPr>
          <a:xfrm>
            <a:off x="8130548" y="3719317"/>
            <a:ext cx="342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Ciclo de embarque</a:t>
            </a:r>
            <a:endParaRPr b="0" i="0" sz="1300" u="none" cap="none" strike="noStrike">
              <a:solidFill>
                <a:schemeClr val="dk1"/>
              </a:solidFill>
              <a:latin typeface="Calibri"/>
              <a:ea typeface="Calibri"/>
              <a:cs typeface="Calibri"/>
              <a:sym typeface="Calibri"/>
            </a:endParaRPr>
          </a:p>
        </p:txBody>
      </p:sp>
      <p:sp>
        <p:nvSpPr>
          <p:cNvPr id="47" name="Google Shape;47;p3"/>
          <p:cNvSpPr/>
          <p:nvPr/>
        </p:nvSpPr>
        <p:spPr>
          <a:xfrm>
            <a:off x="8130548" y="4039357"/>
            <a:ext cx="342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5B7480"/>
              </a:buClr>
              <a:buSzPts val="1050"/>
              <a:buFont typeface="Calibri"/>
              <a:buNone/>
            </a:pPr>
            <a:r>
              <a:rPr b="0" i="0" lang="en-US" sz="1050" u="none" cap="none" strike="noStrike">
                <a:solidFill>
                  <a:srgbClr val="5B7480"/>
                </a:solidFill>
                <a:latin typeface="Calibri"/>
                <a:ea typeface="Calibri"/>
                <a:cs typeface="Calibri"/>
                <a:sym typeface="Calibri"/>
              </a:rPr>
              <a:t>Check-in, abordaje y cancelación con reglas estrictas</a:t>
            </a:r>
            <a:endParaRPr b="0" i="0" sz="1050" u="none" cap="none" strike="noStrike">
              <a:solidFill>
                <a:schemeClr val="dk1"/>
              </a:solidFill>
              <a:latin typeface="Calibri"/>
              <a:ea typeface="Calibri"/>
              <a:cs typeface="Calibri"/>
              <a:sym typeface="Calibri"/>
            </a:endParaRPr>
          </a:p>
        </p:txBody>
      </p:sp>
      <p:sp>
        <p:nvSpPr>
          <p:cNvPr id="48" name="Google Shape;48;p3"/>
          <p:cNvSpPr/>
          <p:nvPr/>
        </p:nvSpPr>
        <p:spPr>
          <a:xfrm>
            <a:off x="7261868" y="4871461"/>
            <a:ext cx="731400" cy="731400"/>
          </a:xfrm>
          <a:prstGeom prst="ellipse">
            <a:avLst/>
          </a:prstGeom>
          <a:solidFill>
            <a:srgbClr val="1B8A9B"/>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bell_white.png" id="49" name="Google Shape;49;p3"/>
          <p:cNvPicPr preferRelativeResize="0"/>
          <p:nvPr/>
        </p:nvPicPr>
        <p:blipFill rotWithShape="1">
          <a:blip r:embed="rId6">
            <a:alphaModFix/>
          </a:blip>
          <a:srcRect b="0" l="0" r="0" t="0"/>
          <a:stretch/>
        </p:blipFill>
        <p:spPr>
          <a:xfrm>
            <a:off x="7437433" y="5047026"/>
            <a:ext cx="380390" cy="380390"/>
          </a:xfrm>
          <a:prstGeom prst="rect">
            <a:avLst/>
          </a:prstGeom>
          <a:noFill/>
          <a:ln>
            <a:noFill/>
          </a:ln>
        </p:spPr>
      </p:pic>
      <p:sp>
        <p:nvSpPr>
          <p:cNvPr id="50" name="Google Shape;50;p3"/>
          <p:cNvSpPr/>
          <p:nvPr/>
        </p:nvSpPr>
        <p:spPr>
          <a:xfrm>
            <a:off x="8130548" y="4889749"/>
            <a:ext cx="342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lang="en-US" sz="1300">
                <a:solidFill>
                  <a:srgbClr val="0B3D59"/>
                </a:solidFill>
                <a:latin typeface="Calibri"/>
                <a:ea typeface="Calibri"/>
                <a:cs typeface="Calibri"/>
                <a:sym typeface="Calibri"/>
              </a:rPr>
              <a:t>Novedades</a:t>
            </a:r>
            <a:endParaRPr b="0" i="0" sz="1300" u="none" cap="none" strike="noStrike">
              <a:solidFill>
                <a:schemeClr val="dk1"/>
              </a:solidFill>
              <a:latin typeface="Calibri"/>
              <a:ea typeface="Calibri"/>
              <a:cs typeface="Calibri"/>
              <a:sym typeface="Calibri"/>
            </a:endParaRPr>
          </a:p>
        </p:txBody>
      </p:sp>
      <p:sp>
        <p:nvSpPr>
          <p:cNvPr id="51" name="Google Shape;51;p3"/>
          <p:cNvSpPr/>
          <p:nvPr/>
        </p:nvSpPr>
        <p:spPr>
          <a:xfrm>
            <a:off x="8130548" y="5209789"/>
            <a:ext cx="342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23809"/>
              </a:lnSpc>
              <a:spcBef>
                <a:spcPts val="0"/>
              </a:spcBef>
              <a:spcAft>
                <a:spcPts val="0"/>
              </a:spcAft>
              <a:buClr>
                <a:srgbClr val="5B7480"/>
              </a:buClr>
              <a:buSzPts val="1050"/>
              <a:buFont typeface="Calibri"/>
              <a:buNone/>
            </a:pPr>
            <a:r>
              <a:rPr b="0" i="0" lang="en-US" sz="1050" u="none" cap="none" strike="noStrike">
                <a:solidFill>
                  <a:srgbClr val="5B7480"/>
                </a:solidFill>
                <a:latin typeface="Calibri"/>
                <a:ea typeface="Calibri"/>
                <a:cs typeface="Calibri"/>
                <a:sym typeface="Calibri"/>
              </a:rPr>
              <a:t>Reprogramaciones y cambios de puerta en tiempo real</a:t>
            </a:r>
            <a:endParaRPr b="0" i="0" sz="1050" u="none" cap="none" strike="noStrike">
              <a:solidFill>
                <a:schemeClr val="dk1"/>
              </a:solidFill>
              <a:latin typeface="Calibri"/>
              <a:ea typeface="Calibri"/>
              <a:cs typeface="Calibri"/>
              <a:sym typeface="Calibri"/>
            </a:endParaRPr>
          </a:p>
        </p:txBody>
      </p:sp>
      <p:sp>
        <p:nvSpPr>
          <p:cNvPr id="52" name="Google Shape;52;p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53" name="Google Shape;53;p3"/>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6"/>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1 DE 5 — CREACIONAL</a:t>
            </a:r>
            <a:endParaRPr b="0" i="0" sz="1250" u="none" cap="none" strike="noStrike">
              <a:solidFill>
                <a:schemeClr val="dk1"/>
              </a:solidFill>
              <a:latin typeface="Calibri"/>
              <a:ea typeface="Calibri"/>
              <a:cs typeface="Calibri"/>
              <a:sym typeface="Calibri"/>
            </a:endParaRPr>
          </a:p>
        </p:txBody>
      </p:sp>
      <p:sp>
        <p:nvSpPr>
          <p:cNvPr id="60" name="Google Shape;60;p6"/>
          <p:cNvSpPr/>
          <p:nvPr/>
        </p:nvSpPr>
        <p:spPr>
          <a:xfrm>
            <a:off x="640080" y="685800"/>
            <a:ext cx="10881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Factory Method: emisión desacoplada de pasajes</a:t>
            </a:r>
            <a:endParaRPr b="0" i="0" sz="3200" u="none" cap="none" strike="noStrike">
              <a:solidFill>
                <a:schemeClr val="dk1"/>
              </a:solidFill>
              <a:latin typeface="Calibri"/>
              <a:ea typeface="Calibri"/>
              <a:cs typeface="Calibri"/>
              <a:sym typeface="Calibri"/>
            </a:endParaRPr>
          </a:p>
        </p:txBody>
      </p:sp>
      <p:sp>
        <p:nvSpPr>
          <p:cNvPr id="61" name="Google Shape;61;p6"/>
          <p:cNvSpPr/>
          <p:nvPr/>
        </p:nvSpPr>
        <p:spPr>
          <a:xfrm>
            <a:off x="640080" y="1691640"/>
            <a:ext cx="5394960" cy="1965960"/>
          </a:xfrm>
          <a:prstGeom prst="roundRect">
            <a:avLst>
              <a:gd fmla="val 3721" name="adj"/>
            </a:avLst>
          </a:prstGeom>
          <a:solidFill>
            <a:srgbClr val="F4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868680" y="181051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Problema</a:t>
            </a:r>
            <a:endParaRPr b="0" i="0" sz="1300" u="none" cap="none" strike="noStrike">
              <a:solidFill>
                <a:schemeClr val="dk1"/>
              </a:solidFill>
              <a:latin typeface="Calibri"/>
              <a:ea typeface="Calibri"/>
              <a:cs typeface="Calibri"/>
              <a:sym typeface="Calibri"/>
            </a:endParaRPr>
          </a:p>
        </p:txBody>
      </p:sp>
      <p:sp>
        <p:nvSpPr>
          <p:cNvPr id="63" name="Google Shape;63;p6"/>
          <p:cNvSpPr/>
          <p:nvPr/>
        </p:nvSpPr>
        <p:spPr>
          <a:xfrm>
            <a:off x="868680" y="2148840"/>
            <a:ext cx="493776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17242B"/>
              </a:buClr>
              <a:buSzPts val="1200"/>
              <a:buFont typeface="Calibri"/>
              <a:buNone/>
            </a:pPr>
            <a:r>
              <a:rPr b="0" i="0" lang="en-US" sz="1200" u="none" cap="none" strike="noStrike">
                <a:solidFill>
                  <a:srgbClr val="17242B"/>
                </a:solidFill>
                <a:latin typeface="Calibri"/>
                <a:ea typeface="Calibri"/>
                <a:cs typeface="Calibri"/>
                <a:sym typeface="Calibri"/>
              </a:rPr>
              <a:t>Vincular el módulo de ventas con las clases concretas de cada ticket impide escalar: agregar una nueva categoría regional (Premium Economy) obligaría a tocar el código central en múltiples puntos, violando abierto/cerrado.</a:t>
            </a:r>
            <a:endParaRPr b="0" i="0" sz="1200" u="none" cap="none" strike="noStrike">
              <a:solidFill>
                <a:schemeClr val="dk1"/>
              </a:solidFill>
              <a:latin typeface="Calibri"/>
              <a:ea typeface="Calibri"/>
              <a:cs typeface="Calibri"/>
              <a:sym typeface="Calibri"/>
            </a:endParaRPr>
          </a:p>
        </p:txBody>
      </p:sp>
      <p:sp>
        <p:nvSpPr>
          <p:cNvPr id="64" name="Google Shape;64;p6"/>
          <p:cNvSpPr/>
          <p:nvPr/>
        </p:nvSpPr>
        <p:spPr>
          <a:xfrm>
            <a:off x="640080" y="3794760"/>
            <a:ext cx="5394960" cy="2331720"/>
          </a:xfrm>
          <a:prstGeom prst="roundRect">
            <a:avLst>
              <a:gd fmla="val 3137" name="adj"/>
            </a:avLst>
          </a:prstGeom>
          <a:solidFill>
            <a:srgbClr val="EA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868680" y="3931920"/>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Solución aplicada</a:t>
            </a:r>
            <a:endParaRPr b="0" i="0" sz="1300" u="none" cap="none" strike="noStrike">
              <a:solidFill>
                <a:schemeClr val="dk1"/>
              </a:solidFill>
              <a:latin typeface="Calibri"/>
              <a:ea typeface="Calibri"/>
              <a:cs typeface="Calibri"/>
              <a:sym typeface="Calibri"/>
            </a:endParaRPr>
          </a:p>
        </p:txBody>
      </p:sp>
      <p:sp>
        <p:nvSpPr>
          <p:cNvPr id="66" name="Google Shape;66;p6"/>
          <p:cNvSpPr/>
          <p:nvPr/>
        </p:nvSpPr>
        <p:spPr>
          <a:xfrm>
            <a:off x="868680" y="4251960"/>
            <a:ext cx="493776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17242B"/>
              </a:buClr>
              <a:buSzPts val="1200"/>
              <a:buFont typeface="Calibri"/>
              <a:buNone/>
            </a:pPr>
            <a:r>
              <a:rPr b="0" i="0" lang="en-US" sz="1200" u="none" cap="none" strike="noStrike">
                <a:solidFill>
                  <a:srgbClr val="17242B"/>
                </a:solidFill>
                <a:latin typeface="Calibri"/>
                <a:ea typeface="Calibri"/>
                <a:cs typeface="Calibri"/>
                <a:sym typeface="Calibri"/>
              </a:rPr>
              <a:t>pasajeFactory declara crearPasaje() como abstracto y expone venderPasaje(), que valida disponibilidad, reserva el asiento y suscribe al pasajero. economyFactory y businessFactory sobrescriben solo el método fábrica, devolviendo siempre el tipo pasajeComponent.</a:t>
            </a:r>
            <a:endParaRPr b="0" i="0" sz="1200" u="none" cap="none" strike="noStrike">
              <a:solidFill>
                <a:schemeClr val="dk1"/>
              </a:solidFill>
              <a:latin typeface="Calibri"/>
              <a:ea typeface="Calibri"/>
              <a:cs typeface="Calibri"/>
              <a:sym typeface="Calibri"/>
            </a:endParaRPr>
          </a:p>
        </p:txBody>
      </p:sp>
      <p:sp>
        <p:nvSpPr>
          <p:cNvPr id="67" name="Google Shape;67;p6"/>
          <p:cNvSpPr/>
          <p:nvPr/>
        </p:nvSpPr>
        <p:spPr>
          <a:xfrm>
            <a:off x="6309360" y="1691640"/>
            <a:ext cx="5239512" cy="4434840"/>
          </a:xfrm>
          <a:prstGeom prst="roundRect">
            <a:avLst>
              <a:gd fmla="val 1649" name="adj"/>
            </a:avLst>
          </a:prstGeom>
          <a:solidFill>
            <a:srgbClr val="0B3D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69" name="Google Shape;69;p6"/>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pic>
        <p:nvPicPr>
          <p:cNvPr descr="factory_method_esquema.png" id="70" name="Google Shape;70;p6"/>
          <p:cNvPicPr preferRelativeResize="0"/>
          <p:nvPr/>
        </p:nvPicPr>
        <p:blipFill rotWithShape="1">
          <a:blip r:embed="rId3">
            <a:alphaModFix/>
          </a:blip>
          <a:srcRect b="0" l="0" r="0" t="0"/>
          <a:stretch/>
        </p:blipFill>
        <p:spPr>
          <a:xfrm>
            <a:off x="6231626" y="1661137"/>
            <a:ext cx="5394975" cy="44958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7"/>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2 DE 5 — ESTRUCTURAL</a:t>
            </a:r>
            <a:endParaRPr b="0" i="0" sz="1250" u="none" cap="none" strike="noStrike">
              <a:solidFill>
                <a:schemeClr val="dk1"/>
              </a:solidFill>
              <a:latin typeface="Calibri"/>
              <a:ea typeface="Calibri"/>
              <a:cs typeface="Calibri"/>
              <a:sym typeface="Calibri"/>
            </a:endParaRPr>
          </a:p>
        </p:txBody>
      </p:sp>
      <p:sp>
        <p:nvSpPr>
          <p:cNvPr id="77" name="Google Shape;77;p7"/>
          <p:cNvSpPr/>
          <p:nvPr/>
        </p:nvSpPr>
        <p:spPr>
          <a:xfrm>
            <a:off x="640080" y="685800"/>
            <a:ext cx="10881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Decorator: servicios adicionales </a:t>
            </a:r>
            <a:endParaRPr b="0" i="0" sz="3200" u="none" cap="none" strike="noStrike">
              <a:solidFill>
                <a:schemeClr val="dk1"/>
              </a:solidFill>
              <a:latin typeface="Calibri"/>
              <a:ea typeface="Calibri"/>
              <a:cs typeface="Calibri"/>
              <a:sym typeface="Calibri"/>
            </a:endParaRPr>
          </a:p>
        </p:txBody>
      </p:sp>
      <p:sp>
        <p:nvSpPr>
          <p:cNvPr id="78" name="Google Shape;78;p7"/>
          <p:cNvSpPr/>
          <p:nvPr/>
        </p:nvSpPr>
        <p:spPr>
          <a:xfrm>
            <a:off x="640080" y="1691640"/>
            <a:ext cx="5394960"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36000"/>
              </a:lnSpc>
              <a:spcBef>
                <a:spcPts val="0"/>
              </a:spcBef>
              <a:spcAft>
                <a:spcPts val="0"/>
              </a:spcAft>
              <a:buClr>
                <a:srgbClr val="17242B"/>
              </a:buClr>
              <a:buSzPts val="1250"/>
              <a:buFont typeface="Calibri"/>
              <a:buNone/>
            </a:pPr>
            <a:r>
              <a:rPr b="0" i="0" lang="en-US" sz="1250" u="none" cap="none" strike="noStrike">
                <a:solidFill>
                  <a:srgbClr val="17242B"/>
                </a:solidFill>
                <a:latin typeface="Calibri"/>
                <a:ea typeface="Calibri"/>
                <a:cs typeface="Calibri"/>
                <a:sym typeface="Calibri"/>
              </a:rPr>
              <a:t>Agregar equipaje extra o acceso al Salón VIP mediante herencia tradicional generaría clases como PasajeEconomyConEquipaje o PasajeBusinessConSalonVip: rígido, duplicado y difícil de tarifar.</a:t>
            </a:r>
            <a:endParaRPr b="0" i="0" sz="1250" u="none" cap="none" strike="noStrike">
              <a:solidFill>
                <a:schemeClr val="dk1"/>
              </a:solidFill>
              <a:latin typeface="Calibri"/>
              <a:ea typeface="Calibri"/>
              <a:cs typeface="Calibri"/>
              <a:sym typeface="Calibri"/>
            </a:endParaRPr>
          </a:p>
        </p:txBody>
      </p:sp>
      <p:sp>
        <p:nvSpPr>
          <p:cNvPr id="79" name="Google Shape;79;p7"/>
          <p:cNvSpPr/>
          <p:nvPr/>
        </p:nvSpPr>
        <p:spPr>
          <a:xfrm>
            <a:off x="6660755" y="6110385"/>
            <a:ext cx="5394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1100"/>
              <a:buFont typeface="Calibri"/>
              <a:buNone/>
            </a:pPr>
            <a:r>
              <a:rPr b="0" i="1" lang="en-US" sz="1100" u="none" cap="none" strike="noStrike">
                <a:solidFill>
                  <a:srgbClr val="5B7480"/>
                </a:solidFill>
                <a:latin typeface="Calibri"/>
                <a:ea typeface="Calibri"/>
                <a:cs typeface="Calibri"/>
                <a:sym typeface="Calibri"/>
              </a:rPr>
              <a:t>getCosto() recorre la pila de afuera hacia adentro y acumula cada costo → devuelve el total.</a:t>
            </a:r>
            <a:endParaRPr b="0" i="0" sz="1100" u="none" cap="none" strike="noStrike">
              <a:solidFill>
                <a:schemeClr val="dk1"/>
              </a:solidFill>
              <a:latin typeface="Calibri"/>
              <a:ea typeface="Calibri"/>
              <a:cs typeface="Calibri"/>
              <a:sym typeface="Calibri"/>
            </a:endParaRPr>
          </a:p>
        </p:txBody>
      </p:sp>
      <p:sp>
        <p:nvSpPr>
          <p:cNvPr id="80" name="Google Shape;80;p7"/>
          <p:cNvSpPr/>
          <p:nvPr/>
        </p:nvSpPr>
        <p:spPr>
          <a:xfrm>
            <a:off x="548624" y="3224201"/>
            <a:ext cx="5577900" cy="2287800"/>
          </a:xfrm>
          <a:prstGeom prst="roundRect">
            <a:avLst>
              <a:gd fmla="val 3404" name="adj"/>
            </a:avLst>
          </a:prstGeom>
          <a:solidFill>
            <a:srgbClr val="F4F9FA"/>
          </a:solidFill>
          <a:ln>
            <a:noFill/>
          </a:ln>
        </p:spPr>
        <p:txBody>
          <a:bodyPr anchorCtr="0" anchor="ctr" bIns="97325" lIns="97325" spcFirstLastPara="1" rIns="97325" wrap="square" tIns="97325">
            <a:noAutofit/>
          </a:bodyPr>
          <a:lstStyle/>
          <a:p>
            <a:pPr indent="0" lvl="0" marL="0" rtl="0" algn="l">
              <a:spcBef>
                <a:spcPts val="0"/>
              </a:spcBef>
              <a:spcAft>
                <a:spcPts val="0"/>
              </a:spcAft>
              <a:buNone/>
            </a:pPr>
            <a:r>
              <a:t/>
            </a:r>
            <a:endParaRPr/>
          </a:p>
        </p:txBody>
      </p:sp>
      <p:sp>
        <p:nvSpPr>
          <p:cNvPr id="81" name="Google Shape;81;p7"/>
          <p:cNvSpPr/>
          <p:nvPr/>
        </p:nvSpPr>
        <p:spPr>
          <a:xfrm>
            <a:off x="791987" y="3350749"/>
            <a:ext cx="5062200" cy="340800"/>
          </a:xfrm>
          <a:prstGeom prst="rect">
            <a:avLst/>
          </a:prstGeom>
          <a:noFill/>
          <a:ln>
            <a:noFill/>
          </a:ln>
        </p:spPr>
        <p:txBody>
          <a:bodyPr anchorCtr="0" anchor="ctr" bIns="48650" lIns="97325" spcFirstLastPara="1" rIns="97325" wrap="square" tIns="48650">
            <a:noAutofit/>
          </a:bodyPr>
          <a:lstStyle/>
          <a:p>
            <a:pPr indent="0" lvl="0" marL="0" marR="0" rtl="0" algn="l">
              <a:spcBef>
                <a:spcPts val="0"/>
              </a:spcBef>
              <a:spcAft>
                <a:spcPts val="0"/>
              </a:spcAft>
              <a:buClr>
                <a:srgbClr val="0B3D59"/>
              </a:buClr>
              <a:buSzPts val="1384"/>
              <a:buFont typeface="Calibri"/>
              <a:buNone/>
            </a:pPr>
            <a:r>
              <a:rPr b="1" i="0" lang="en-US" sz="1384" u="none" cap="none" strike="noStrike">
                <a:solidFill>
                  <a:srgbClr val="0B3D59"/>
                </a:solidFill>
                <a:latin typeface="Calibri"/>
                <a:ea typeface="Calibri"/>
                <a:cs typeface="Calibri"/>
                <a:sym typeface="Calibri"/>
              </a:rPr>
              <a:t>Cómo funciona</a:t>
            </a:r>
            <a:endParaRPr b="0" i="0" sz="1384" u="none" cap="none" strike="noStrike">
              <a:solidFill>
                <a:schemeClr val="dk1"/>
              </a:solidFill>
              <a:latin typeface="Calibri"/>
              <a:ea typeface="Calibri"/>
              <a:cs typeface="Calibri"/>
              <a:sym typeface="Calibri"/>
            </a:endParaRPr>
          </a:p>
        </p:txBody>
      </p:sp>
      <p:sp>
        <p:nvSpPr>
          <p:cNvPr id="82" name="Google Shape;82;p7"/>
          <p:cNvSpPr/>
          <p:nvPr/>
        </p:nvSpPr>
        <p:spPr>
          <a:xfrm>
            <a:off x="791975" y="3442600"/>
            <a:ext cx="5110500" cy="2020200"/>
          </a:xfrm>
          <a:prstGeom prst="rect">
            <a:avLst/>
          </a:prstGeom>
          <a:noFill/>
          <a:ln>
            <a:noFill/>
          </a:ln>
        </p:spPr>
        <p:txBody>
          <a:bodyPr anchorCtr="0" anchor="ctr" bIns="48650" lIns="97325" spcFirstLastPara="1" rIns="97325" wrap="square" tIns="48650">
            <a:noAutofit/>
          </a:bodyPr>
          <a:lstStyle/>
          <a:p>
            <a:pPr indent="0" lvl="0" marL="0" marR="0" rtl="0" algn="l">
              <a:lnSpc>
                <a:spcPct val="133333"/>
              </a:lnSpc>
              <a:spcBef>
                <a:spcPts val="0"/>
              </a:spcBef>
              <a:spcAft>
                <a:spcPts val="0"/>
              </a:spcAft>
              <a:buClr>
                <a:srgbClr val="17242B"/>
              </a:buClr>
              <a:buSzPts val="1277"/>
              <a:buFont typeface="Calibri"/>
              <a:buNone/>
            </a:pPr>
            <a:r>
              <a:rPr b="1" i="0" lang="en-US" sz="1277" u="none" cap="none" strike="noStrike">
                <a:solidFill>
                  <a:srgbClr val="17242B"/>
                </a:solidFill>
                <a:latin typeface="Calibri"/>
                <a:ea typeface="Calibri"/>
                <a:cs typeface="Calibri"/>
                <a:sym typeface="Calibri"/>
              </a:rPr>
              <a:t>decoradorServicio </a:t>
            </a:r>
            <a:r>
              <a:rPr b="0" i="0" lang="en-US" sz="1277" u="none" cap="none" strike="noStrike">
                <a:solidFill>
                  <a:srgbClr val="17242B"/>
                </a:solidFill>
                <a:latin typeface="Calibri"/>
                <a:ea typeface="Calibri"/>
                <a:cs typeface="Calibri"/>
                <a:sym typeface="Calibri"/>
              </a:rPr>
              <a:t>implementa la misma interfaz que envuelve (pasajeComponent) y mantiene una referencia al objeto decorado. Por defecto delega todo; </a:t>
            </a:r>
            <a:r>
              <a:rPr b="1" i="0" lang="en-US" sz="1277" u="none" cap="none" strike="noStrike">
                <a:solidFill>
                  <a:srgbClr val="17242B"/>
                </a:solidFill>
                <a:latin typeface="Calibri"/>
                <a:ea typeface="Calibri"/>
                <a:cs typeface="Calibri"/>
                <a:sym typeface="Calibri"/>
              </a:rPr>
              <a:t>equipajeExtra </a:t>
            </a:r>
            <a:r>
              <a:rPr b="0" i="0" lang="en-US" sz="1277" u="none" cap="none" strike="noStrike">
                <a:solidFill>
                  <a:srgbClr val="17242B"/>
                </a:solidFill>
                <a:latin typeface="Calibri"/>
                <a:ea typeface="Calibri"/>
                <a:cs typeface="Calibri"/>
                <a:sym typeface="Calibri"/>
              </a:rPr>
              <a:t>y </a:t>
            </a:r>
            <a:r>
              <a:rPr b="1" i="0" lang="en-US" sz="1277" u="none" cap="none" strike="noStrike">
                <a:solidFill>
                  <a:srgbClr val="17242B"/>
                </a:solidFill>
                <a:latin typeface="Calibri"/>
                <a:ea typeface="Calibri"/>
                <a:cs typeface="Calibri"/>
                <a:sym typeface="Calibri"/>
              </a:rPr>
              <a:t>accesoVIP </a:t>
            </a:r>
            <a:r>
              <a:rPr b="0" i="0" lang="en-US" sz="1277" u="none" cap="none" strike="noStrike">
                <a:solidFill>
                  <a:srgbClr val="17242B"/>
                </a:solidFill>
                <a:latin typeface="Calibri"/>
                <a:ea typeface="Calibri"/>
                <a:cs typeface="Calibri"/>
                <a:sym typeface="Calibri"/>
              </a:rPr>
              <a:t>solo sobrescriben lo que necesitan cambiar: suman su costo al del objeto envuelto.</a:t>
            </a:r>
            <a:endParaRPr b="0" i="0" sz="1277" u="none" cap="none" strike="noStrike">
              <a:solidFill>
                <a:schemeClr val="dk1"/>
              </a:solidFill>
              <a:latin typeface="Calibri"/>
              <a:ea typeface="Calibri"/>
              <a:cs typeface="Calibri"/>
              <a:sym typeface="Calibri"/>
            </a:endParaRPr>
          </a:p>
        </p:txBody>
      </p:sp>
      <p:sp>
        <p:nvSpPr>
          <p:cNvPr id="83" name="Google Shape;83;p7"/>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84" name="Google Shape;84;p7"/>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id="85" name="Google Shape;85;p7" title="Sin título-1asdasdasdasd2.jpg"/>
          <p:cNvPicPr preferRelativeResize="0"/>
          <p:nvPr/>
        </p:nvPicPr>
        <p:blipFill>
          <a:blip r:embed="rId3">
            <a:alphaModFix/>
          </a:blip>
          <a:stretch>
            <a:fillRect/>
          </a:stretch>
        </p:blipFill>
        <p:spPr>
          <a:xfrm>
            <a:off x="7041087" y="1270625"/>
            <a:ext cx="4480365" cy="49652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f3e9ba4d12_0_3"/>
          <p:cNvSpPr/>
          <p:nvPr/>
        </p:nvSpPr>
        <p:spPr>
          <a:xfrm>
            <a:off x="-1510814" y="5353109"/>
            <a:ext cx="2377500" cy="23775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f3e9ba4d12_0_3"/>
          <p:cNvSpPr/>
          <p:nvPr/>
        </p:nvSpPr>
        <p:spPr>
          <a:xfrm>
            <a:off x="10872099" y="-1555754"/>
            <a:ext cx="4755000" cy="475500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f3e9ba4d12_0_3"/>
          <p:cNvSpPr/>
          <p:nvPr/>
        </p:nvSpPr>
        <p:spPr>
          <a:xfrm>
            <a:off x="640074" y="685800"/>
            <a:ext cx="77184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lang="en-US" sz="3200">
                <a:solidFill>
                  <a:srgbClr val="0B3D59"/>
                </a:solidFill>
                <a:latin typeface="Cambria"/>
                <a:ea typeface="Cambria"/>
                <a:cs typeface="Cambria"/>
                <a:sym typeface="Cambria"/>
              </a:rPr>
              <a:t>Decorator: </a:t>
            </a:r>
            <a:r>
              <a:rPr b="1" lang="en-US" sz="3200">
                <a:solidFill>
                  <a:srgbClr val="0B3D59"/>
                </a:solidFill>
                <a:latin typeface="Cambria"/>
                <a:ea typeface="Cambria"/>
                <a:cs typeface="Cambria"/>
                <a:sym typeface="Cambria"/>
              </a:rPr>
              <a:t>El costo de no aplicarlo </a:t>
            </a:r>
            <a:endParaRPr b="0" i="0" sz="3200" u="none" cap="none" strike="noStrike">
              <a:solidFill>
                <a:schemeClr val="dk1"/>
              </a:solidFill>
              <a:latin typeface="Calibri"/>
              <a:ea typeface="Calibri"/>
              <a:cs typeface="Calibri"/>
              <a:sym typeface="Calibri"/>
            </a:endParaRPr>
          </a:p>
        </p:txBody>
      </p:sp>
      <p:sp>
        <p:nvSpPr>
          <p:cNvPr id="94" name="Google Shape;94;g3f3e9ba4d12_0_3"/>
          <p:cNvSpPr/>
          <p:nvPr/>
        </p:nvSpPr>
        <p:spPr>
          <a:xfrm>
            <a:off x="640080" y="384048"/>
            <a:ext cx="9144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2 DE 5 — ESTRUCTURAL</a:t>
            </a:r>
            <a:endParaRPr b="0" i="0" sz="1250" u="none" cap="none" strike="noStrike">
              <a:solidFill>
                <a:schemeClr val="dk1"/>
              </a:solidFill>
              <a:latin typeface="Calibri"/>
              <a:ea typeface="Calibri"/>
              <a:cs typeface="Calibri"/>
              <a:sym typeface="Calibri"/>
            </a:endParaRPr>
          </a:p>
        </p:txBody>
      </p:sp>
      <p:pic>
        <p:nvPicPr>
          <p:cNvPr id="95" name="Google Shape;95;g3f3e9ba4d12_0_3" title="Sin título-1asdasd.jpg"/>
          <p:cNvPicPr preferRelativeResize="0"/>
          <p:nvPr/>
        </p:nvPicPr>
        <p:blipFill>
          <a:blip r:embed="rId3">
            <a:alphaModFix/>
          </a:blip>
          <a:stretch>
            <a:fillRect/>
          </a:stretch>
        </p:blipFill>
        <p:spPr>
          <a:xfrm>
            <a:off x="1160000" y="1319814"/>
            <a:ext cx="9712102" cy="5605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10"/>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a:t>
            </a:r>
            <a:r>
              <a:rPr b="1" lang="en-US" sz="1250">
                <a:solidFill>
                  <a:srgbClr val="E8A33D"/>
                </a:solidFill>
                <a:latin typeface="Calibri"/>
                <a:ea typeface="Calibri"/>
                <a:cs typeface="Calibri"/>
                <a:sym typeface="Calibri"/>
              </a:rPr>
              <a:t>3</a:t>
            </a:r>
            <a:r>
              <a:rPr b="1" i="0" lang="en-US" sz="1250" u="none" cap="none" strike="noStrike">
                <a:solidFill>
                  <a:srgbClr val="E8A33D"/>
                </a:solidFill>
                <a:latin typeface="Calibri"/>
                <a:ea typeface="Calibri"/>
                <a:cs typeface="Calibri"/>
                <a:sym typeface="Calibri"/>
              </a:rPr>
              <a:t> DE 5 — COMPORTAMIENTO</a:t>
            </a:r>
            <a:endParaRPr b="0" i="0" sz="1250" u="none" cap="none" strike="noStrike">
              <a:solidFill>
                <a:schemeClr val="dk1"/>
              </a:solidFill>
              <a:latin typeface="Calibri"/>
              <a:ea typeface="Calibri"/>
              <a:cs typeface="Calibri"/>
              <a:sym typeface="Calibri"/>
            </a:endParaRPr>
          </a:p>
        </p:txBody>
      </p:sp>
      <p:sp>
        <p:nvSpPr>
          <p:cNvPr id="102" name="Google Shape;102;p10"/>
          <p:cNvSpPr/>
          <p:nvPr/>
        </p:nvSpPr>
        <p:spPr>
          <a:xfrm>
            <a:off x="640080" y="685800"/>
            <a:ext cx="10881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Observer: notificación automática de novedades</a:t>
            </a:r>
            <a:endParaRPr b="0" i="0" sz="3200" u="none" cap="none" strike="noStrike">
              <a:solidFill>
                <a:schemeClr val="dk1"/>
              </a:solidFill>
              <a:latin typeface="Calibri"/>
              <a:ea typeface="Calibri"/>
              <a:cs typeface="Calibri"/>
              <a:sym typeface="Calibri"/>
            </a:endParaRPr>
          </a:p>
        </p:txBody>
      </p:sp>
      <p:sp>
        <p:nvSpPr>
          <p:cNvPr id="103" name="Google Shape;103;p10"/>
          <p:cNvSpPr/>
          <p:nvPr/>
        </p:nvSpPr>
        <p:spPr>
          <a:xfrm>
            <a:off x="663000" y="1642550"/>
            <a:ext cx="9834600" cy="1555500"/>
          </a:xfrm>
          <a:prstGeom prst="rect">
            <a:avLst/>
          </a:prstGeom>
          <a:noFill/>
          <a:ln>
            <a:noFill/>
          </a:ln>
        </p:spPr>
        <p:txBody>
          <a:bodyPr anchorCtr="0" anchor="ctr" bIns="45700" lIns="91425" spcFirstLastPara="1" rIns="91425" wrap="square" tIns="45700">
            <a:noAutofit/>
          </a:bodyPr>
          <a:lstStyle/>
          <a:p>
            <a:pPr indent="0" lvl="0" marL="0" marR="0" rtl="0" algn="l">
              <a:lnSpc>
                <a:spcPct val="130769"/>
              </a:lnSpc>
              <a:spcBef>
                <a:spcPts val="0"/>
              </a:spcBef>
              <a:spcAft>
                <a:spcPts val="0"/>
              </a:spcAft>
              <a:buClr>
                <a:srgbClr val="17242B"/>
              </a:buClr>
              <a:buSzPts val="1300"/>
              <a:buFont typeface="Calibri"/>
              <a:buNone/>
            </a:pPr>
            <a:r>
              <a:rPr b="0" i="0" lang="en-US" sz="1600" u="none" cap="none" strike="noStrike">
                <a:solidFill>
                  <a:srgbClr val="17242B"/>
                </a:solidFill>
                <a:latin typeface="Calibri"/>
                <a:ea typeface="Calibri"/>
                <a:cs typeface="Calibri"/>
                <a:sym typeface="Calibri"/>
              </a:rPr>
              <a:t>Ante una reprogramación, múltiples componentes deben enterarse de inmediato: apps de pasajeros, cartelería del aeropuerto y asignación de tripulación. Un acoplamiento directo impediría sumar nuevos interesados sin recompilar el núcleo.</a:t>
            </a:r>
            <a:endParaRPr b="0" i="0" sz="1600" u="none" cap="none" strike="noStrike">
              <a:solidFill>
                <a:schemeClr val="dk1"/>
              </a:solidFill>
              <a:latin typeface="Calibri"/>
              <a:ea typeface="Calibri"/>
              <a:cs typeface="Calibri"/>
              <a:sym typeface="Calibri"/>
            </a:endParaRPr>
          </a:p>
        </p:txBody>
      </p:sp>
      <p:sp>
        <p:nvSpPr>
          <p:cNvPr id="104" name="Google Shape;104;p10"/>
          <p:cNvSpPr/>
          <p:nvPr/>
        </p:nvSpPr>
        <p:spPr>
          <a:xfrm>
            <a:off x="1355845" y="3609578"/>
            <a:ext cx="1371600" cy="1371600"/>
          </a:xfrm>
          <a:prstGeom prst="ellipse">
            <a:avLst/>
          </a:prstGeom>
          <a:solidFill>
            <a:srgbClr val="0B3D59"/>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plane_white.png" id="105" name="Google Shape;105;p10"/>
          <p:cNvPicPr preferRelativeResize="0"/>
          <p:nvPr/>
        </p:nvPicPr>
        <p:blipFill rotWithShape="1">
          <a:blip r:embed="rId3">
            <a:alphaModFix/>
          </a:blip>
          <a:srcRect b="0" l="0" r="0" t="0"/>
          <a:stretch/>
        </p:blipFill>
        <p:spPr>
          <a:xfrm>
            <a:off x="1685029" y="3938761"/>
            <a:ext cx="713232" cy="713232"/>
          </a:xfrm>
          <a:prstGeom prst="rect">
            <a:avLst/>
          </a:prstGeom>
          <a:noFill/>
          <a:ln>
            <a:noFill/>
          </a:ln>
        </p:spPr>
      </p:pic>
      <p:sp>
        <p:nvSpPr>
          <p:cNvPr id="106" name="Google Shape;106;p10"/>
          <p:cNvSpPr/>
          <p:nvPr/>
        </p:nvSpPr>
        <p:spPr>
          <a:xfrm>
            <a:off x="807205" y="5054330"/>
            <a:ext cx="24690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3D59"/>
              </a:buClr>
              <a:buSzPts val="1300"/>
              <a:buFont typeface="Calibri"/>
              <a:buNone/>
            </a:pPr>
            <a:r>
              <a:rPr b="1" i="0" lang="en-US" sz="1300" u="none" cap="none" strike="noStrike">
                <a:solidFill>
                  <a:srgbClr val="0B3D59"/>
                </a:solidFill>
                <a:latin typeface="Calibri"/>
                <a:ea typeface="Calibri"/>
                <a:cs typeface="Calibri"/>
                <a:sym typeface="Calibri"/>
              </a:rPr>
              <a:t>vuelo</a:t>
            </a:r>
            <a:endParaRPr b="0" i="0" sz="1300" u="none" cap="none" strike="noStrike">
              <a:solidFill>
                <a:schemeClr val="dk1"/>
              </a:solidFill>
              <a:latin typeface="Calibri"/>
              <a:ea typeface="Calibri"/>
              <a:cs typeface="Calibri"/>
              <a:sym typeface="Calibri"/>
            </a:endParaRPr>
          </a:p>
        </p:txBody>
      </p:sp>
      <p:sp>
        <p:nvSpPr>
          <p:cNvPr id="107" name="Google Shape;107;p10"/>
          <p:cNvSpPr/>
          <p:nvPr/>
        </p:nvSpPr>
        <p:spPr>
          <a:xfrm>
            <a:off x="807205" y="5346938"/>
            <a:ext cx="24690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7480"/>
              </a:buClr>
              <a:buSzPts val="1000"/>
              <a:buFont typeface="Calibri"/>
              <a:buNone/>
            </a:pPr>
            <a:r>
              <a:rPr b="0" i="0" lang="en-US" sz="1000" u="none" cap="none" strike="noStrike">
                <a:solidFill>
                  <a:srgbClr val="5B7480"/>
                </a:solidFill>
                <a:latin typeface="Calibri"/>
                <a:ea typeface="Calibri"/>
                <a:cs typeface="Calibri"/>
                <a:sym typeface="Calibri"/>
              </a:rPr>
              <a:t>Sujeto Concreto</a:t>
            </a:r>
            <a:endParaRPr b="0" i="0" sz="1000" u="none" cap="none" strike="noStrike">
              <a:solidFill>
                <a:schemeClr val="dk1"/>
              </a:solidFill>
              <a:latin typeface="Calibri"/>
              <a:ea typeface="Calibri"/>
              <a:cs typeface="Calibri"/>
              <a:sym typeface="Calibri"/>
            </a:endParaRPr>
          </a:p>
        </p:txBody>
      </p:sp>
      <p:cxnSp>
        <p:nvCxnSpPr>
          <p:cNvPr id="108" name="Google Shape;108;p10"/>
          <p:cNvCxnSpPr/>
          <p:nvPr/>
        </p:nvCxnSpPr>
        <p:spPr>
          <a:xfrm>
            <a:off x="3230365" y="4295378"/>
            <a:ext cx="1737300" cy="0"/>
          </a:xfrm>
          <a:prstGeom prst="straightConnector1">
            <a:avLst/>
          </a:prstGeom>
          <a:noFill/>
          <a:ln cap="flat" cmpd="sng" w="25400">
            <a:solidFill>
              <a:srgbClr val="5B7480"/>
            </a:solidFill>
            <a:prstDash val="solid"/>
            <a:round/>
            <a:headEnd len="sm" w="sm" type="none"/>
            <a:tailEnd len="med" w="med" type="triangle"/>
          </a:ln>
        </p:spPr>
      </p:cxnSp>
      <p:sp>
        <p:nvSpPr>
          <p:cNvPr id="109" name="Google Shape;109;p10"/>
          <p:cNvSpPr/>
          <p:nvPr/>
        </p:nvSpPr>
        <p:spPr>
          <a:xfrm>
            <a:off x="3230365" y="3838178"/>
            <a:ext cx="17373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7480"/>
              </a:buClr>
              <a:buSzPts val="950"/>
              <a:buFont typeface="Calibri"/>
              <a:buNone/>
            </a:pPr>
            <a:r>
              <a:rPr b="0" i="1" lang="en-US" sz="950" u="none" cap="none" strike="noStrike">
                <a:solidFill>
                  <a:srgbClr val="5B7480"/>
                </a:solidFill>
                <a:latin typeface="Calibri"/>
                <a:ea typeface="Calibri"/>
                <a:cs typeface="Calibri"/>
                <a:sym typeface="Calibri"/>
              </a:rPr>
              <a:t>notificar(eventoVuelo)</a:t>
            </a:r>
            <a:endParaRPr b="0" i="0" sz="950" u="none" cap="none" strike="noStrike">
              <a:solidFill>
                <a:schemeClr val="dk1"/>
              </a:solidFill>
              <a:latin typeface="Calibri"/>
              <a:ea typeface="Calibri"/>
              <a:cs typeface="Calibri"/>
              <a:sym typeface="Calibri"/>
            </a:endParaRPr>
          </a:p>
        </p:txBody>
      </p:sp>
      <p:sp>
        <p:nvSpPr>
          <p:cNvPr id="110" name="Google Shape;110;p10"/>
          <p:cNvSpPr/>
          <p:nvPr/>
        </p:nvSpPr>
        <p:spPr>
          <a:xfrm>
            <a:off x="5150605" y="3792458"/>
            <a:ext cx="1005900" cy="1005900"/>
          </a:xfrm>
          <a:prstGeom prst="ellipse">
            <a:avLst/>
          </a:prstGeom>
          <a:solidFill>
            <a:srgbClr val="E8A33D"/>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bell_white.png" id="111" name="Google Shape;111;p10"/>
          <p:cNvPicPr preferRelativeResize="0"/>
          <p:nvPr/>
        </p:nvPicPr>
        <p:blipFill rotWithShape="1">
          <a:blip r:embed="rId4">
            <a:alphaModFix/>
          </a:blip>
          <a:srcRect b="0" l="0" r="0" t="0"/>
          <a:stretch/>
        </p:blipFill>
        <p:spPr>
          <a:xfrm>
            <a:off x="5392007" y="4033860"/>
            <a:ext cx="523037" cy="523037"/>
          </a:xfrm>
          <a:prstGeom prst="rect">
            <a:avLst/>
          </a:prstGeom>
          <a:noFill/>
          <a:ln>
            <a:noFill/>
          </a:ln>
        </p:spPr>
      </p:pic>
      <p:sp>
        <p:nvSpPr>
          <p:cNvPr id="112" name="Google Shape;112;p10"/>
          <p:cNvSpPr/>
          <p:nvPr/>
        </p:nvSpPr>
        <p:spPr>
          <a:xfrm>
            <a:off x="4647685" y="4889738"/>
            <a:ext cx="20118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3D59"/>
              </a:buClr>
              <a:buSzPts val="1100"/>
              <a:buFont typeface="Calibri"/>
              <a:buNone/>
            </a:pPr>
            <a:r>
              <a:rPr b="1" i="0" lang="en-US" sz="1100" u="none" cap="none" strike="noStrike">
                <a:solidFill>
                  <a:srgbClr val="0B3D59"/>
                </a:solidFill>
                <a:latin typeface="Calibri"/>
                <a:ea typeface="Calibri"/>
                <a:cs typeface="Calibri"/>
                <a:sym typeface="Calibri"/>
              </a:rPr>
              <a:t>observadorVuelo</a:t>
            </a:r>
            <a:endParaRPr b="0" i="0" sz="1100" u="none" cap="none" strike="noStrike">
              <a:solidFill>
                <a:schemeClr val="dk1"/>
              </a:solidFill>
              <a:latin typeface="Calibri"/>
              <a:ea typeface="Calibri"/>
              <a:cs typeface="Calibri"/>
              <a:sym typeface="Calibri"/>
            </a:endParaRPr>
          </a:p>
        </p:txBody>
      </p:sp>
      <p:sp>
        <p:nvSpPr>
          <p:cNvPr id="113" name="Google Shape;113;p10"/>
          <p:cNvSpPr/>
          <p:nvPr/>
        </p:nvSpPr>
        <p:spPr>
          <a:xfrm>
            <a:off x="4647685" y="5182346"/>
            <a:ext cx="2011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7480"/>
              </a:buClr>
              <a:buSzPts val="950"/>
              <a:buFont typeface="Calibri"/>
              <a:buNone/>
            </a:pPr>
            <a:r>
              <a:rPr b="0" i="0" lang="en-US" sz="950" u="none" cap="none" strike="noStrike">
                <a:solidFill>
                  <a:srgbClr val="5B7480"/>
                </a:solidFill>
                <a:latin typeface="Calibri"/>
                <a:ea typeface="Calibri"/>
                <a:cs typeface="Calibri"/>
                <a:sym typeface="Calibri"/>
              </a:rPr>
              <a:t>(interfaz)</a:t>
            </a:r>
            <a:endParaRPr b="0" i="0" sz="950" u="none" cap="none" strike="noStrike">
              <a:solidFill>
                <a:schemeClr val="dk1"/>
              </a:solidFill>
              <a:latin typeface="Calibri"/>
              <a:ea typeface="Calibri"/>
              <a:cs typeface="Calibri"/>
              <a:sym typeface="Calibri"/>
            </a:endParaRPr>
          </a:p>
        </p:txBody>
      </p:sp>
      <p:cxnSp>
        <p:nvCxnSpPr>
          <p:cNvPr id="114" name="Google Shape;114;p10"/>
          <p:cNvCxnSpPr>
            <a:endCxn id="115" idx="2"/>
          </p:cNvCxnSpPr>
          <p:nvPr/>
        </p:nvCxnSpPr>
        <p:spPr>
          <a:xfrm flipH="1" rot="10800000">
            <a:off x="6620665" y="3632507"/>
            <a:ext cx="1067400" cy="672600"/>
          </a:xfrm>
          <a:prstGeom prst="straightConnector1">
            <a:avLst/>
          </a:prstGeom>
          <a:noFill/>
          <a:ln cap="flat" cmpd="sng" w="19050">
            <a:solidFill>
              <a:srgbClr val="5B7480"/>
            </a:solidFill>
            <a:prstDash val="solid"/>
            <a:round/>
            <a:headEnd len="sm" w="sm" type="none"/>
            <a:tailEnd len="med" w="med" type="triangle"/>
          </a:ln>
        </p:spPr>
      </p:cxnSp>
      <p:sp>
        <p:nvSpPr>
          <p:cNvPr id="115" name="Google Shape;115;p10"/>
          <p:cNvSpPr/>
          <p:nvPr/>
        </p:nvSpPr>
        <p:spPr>
          <a:xfrm>
            <a:off x="7688065" y="3198107"/>
            <a:ext cx="868800" cy="868800"/>
          </a:xfrm>
          <a:prstGeom prst="ellipse">
            <a:avLst/>
          </a:prstGeom>
          <a:solidFill>
            <a:srgbClr val="1B8A9B"/>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users_white.png" id="116" name="Google Shape;116;p10"/>
          <p:cNvPicPr preferRelativeResize="0"/>
          <p:nvPr/>
        </p:nvPicPr>
        <p:blipFill rotWithShape="1">
          <a:blip r:embed="rId5">
            <a:alphaModFix/>
          </a:blip>
          <a:srcRect b="0" l="0" r="0" t="0"/>
          <a:stretch/>
        </p:blipFill>
        <p:spPr>
          <a:xfrm>
            <a:off x="7896548" y="3406591"/>
            <a:ext cx="451714" cy="451714"/>
          </a:xfrm>
          <a:prstGeom prst="rect">
            <a:avLst/>
          </a:prstGeom>
          <a:noFill/>
          <a:ln>
            <a:noFill/>
          </a:ln>
        </p:spPr>
      </p:pic>
      <p:sp>
        <p:nvSpPr>
          <p:cNvPr id="117" name="Google Shape;117;p10"/>
          <p:cNvSpPr/>
          <p:nvPr/>
        </p:nvSpPr>
        <p:spPr>
          <a:xfrm>
            <a:off x="8716765" y="3385560"/>
            <a:ext cx="2926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242B"/>
              </a:buClr>
              <a:buSzPts val="1250"/>
              <a:buFont typeface="Calibri"/>
              <a:buNone/>
            </a:pPr>
            <a:r>
              <a:rPr b="1" lang="en-US" sz="1250">
                <a:solidFill>
                  <a:srgbClr val="17242B"/>
                </a:solidFill>
                <a:latin typeface="Calibri"/>
                <a:ea typeface="Calibri"/>
                <a:cs typeface="Calibri"/>
                <a:sym typeface="Calibri"/>
              </a:rPr>
              <a:t>P</a:t>
            </a:r>
            <a:r>
              <a:rPr b="1" i="0" lang="en-US" sz="1250" u="none" cap="none" strike="noStrike">
                <a:solidFill>
                  <a:srgbClr val="17242B"/>
                </a:solidFill>
                <a:latin typeface="Calibri"/>
                <a:ea typeface="Calibri"/>
                <a:cs typeface="Calibri"/>
                <a:sym typeface="Calibri"/>
              </a:rPr>
              <a:t>asajeros</a:t>
            </a:r>
            <a:endParaRPr b="0" i="0" sz="1250" u="none" cap="none" strike="noStrike">
              <a:solidFill>
                <a:schemeClr val="dk1"/>
              </a:solidFill>
              <a:latin typeface="Calibri"/>
              <a:ea typeface="Calibri"/>
              <a:cs typeface="Calibri"/>
              <a:sym typeface="Calibri"/>
            </a:endParaRPr>
          </a:p>
        </p:txBody>
      </p:sp>
      <p:cxnSp>
        <p:nvCxnSpPr>
          <p:cNvPr id="118" name="Google Shape;118;p10"/>
          <p:cNvCxnSpPr>
            <a:endCxn id="119" idx="2"/>
          </p:cNvCxnSpPr>
          <p:nvPr/>
        </p:nvCxnSpPr>
        <p:spPr>
          <a:xfrm>
            <a:off x="6627565" y="4305353"/>
            <a:ext cx="1060500" cy="755700"/>
          </a:xfrm>
          <a:prstGeom prst="straightConnector1">
            <a:avLst/>
          </a:prstGeom>
          <a:noFill/>
          <a:ln cap="flat" cmpd="sng" w="19050">
            <a:solidFill>
              <a:srgbClr val="5B7480"/>
            </a:solidFill>
            <a:prstDash val="solid"/>
            <a:round/>
            <a:headEnd len="sm" w="sm" type="none"/>
            <a:tailEnd len="med" w="med" type="triangle"/>
          </a:ln>
        </p:spPr>
      </p:cxnSp>
      <p:pic>
        <p:nvPicPr>
          <p:cNvPr descr="/home/claude/cineclub_deck/icon_diagram_white.png" id="120" name="Google Shape;120;p10"/>
          <p:cNvPicPr preferRelativeResize="0"/>
          <p:nvPr/>
        </p:nvPicPr>
        <p:blipFill rotWithShape="1">
          <a:blip r:embed="rId6">
            <a:alphaModFix/>
          </a:blip>
          <a:srcRect b="0" l="0" r="0" t="0"/>
          <a:stretch/>
        </p:blipFill>
        <p:spPr>
          <a:xfrm>
            <a:off x="7896548" y="4389561"/>
            <a:ext cx="451714" cy="451714"/>
          </a:xfrm>
          <a:prstGeom prst="rect">
            <a:avLst/>
          </a:prstGeom>
          <a:noFill/>
          <a:ln>
            <a:noFill/>
          </a:ln>
        </p:spPr>
      </p:pic>
      <p:sp>
        <p:nvSpPr>
          <p:cNvPr id="121" name="Google Shape;121;p10"/>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122" name="Google Shape;122;p10"/>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119" name="Google Shape;119;p10"/>
          <p:cNvSpPr/>
          <p:nvPr/>
        </p:nvSpPr>
        <p:spPr>
          <a:xfrm>
            <a:off x="7688065" y="4626653"/>
            <a:ext cx="868800" cy="868800"/>
          </a:xfrm>
          <a:prstGeom prst="ellipse">
            <a:avLst/>
          </a:prstGeom>
          <a:solidFill>
            <a:srgbClr val="1B8A9B"/>
          </a:solidFill>
          <a:ln>
            <a:noFill/>
          </a:ln>
          <a:effectLst>
            <a:outerShdw blurRad="76200" rotWithShape="0" algn="bl" dir="5400000" dist="25400">
              <a:srgbClr val="3A3A3A">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diagram_white.png" id="123" name="Google Shape;123;p10"/>
          <p:cNvPicPr preferRelativeResize="0"/>
          <p:nvPr/>
        </p:nvPicPr>
        <p:blipFill rotWithShape="1">
          <a:blip r:embed="rId6">
            <a:alphaModFix/>
          </a:blip>
          <a:srcRect b="0" l="0" r="0" t="0"/>
          <a:stretch/>
        </p:blipFill>
        <p:spPr>
          <a:xfrm>
            <a:off x="7896548" y="4835136"/>
            <a:ext cx="451714" cy="451714"/>
          </a:xfrm>
          <a:prstGeom prst="rect">
            <a:avLst/>
          </a:prstGeom>
          <a:noFill/>
          <a:ln>
            <a:noFill/>
          </a:ln>
        </p:spPr>
      </p:pic>
      <p:sp>
        <p:nvSpPr>
          <p:cNvPr id="124" name="Google Shape;124;p10"/>
          <p:cNvSpPr/>
          <p:nvPr/>
        </p:nvSpPr>
        <p:spPr>
          <a:xfrm>
            <a:off x="8716765" y="4814105"/>
            <a:ext cx="2926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242B"/>
              </a:buClr>
              <a:buSzPts val="1250"/>
              <a:buFont typeface="Calibri"/>
              <a:buNone/>
            </a:pPr>
            <a:r>
              <a:rPr b="1" i="0" lang="en-US" sz="1250" u="none" cap="none" strike="noStrike">
                <a:solidFill>
                  <a:srgbClr val="17242B"/>
                </a:solidFill>
                <a:latin typeface="Calibri"/>
                <a:ea typeface="Calibri"/>
                <a:cs typeface="Calibri"/>
                <a:sym typeface="Calibri"/>
              </a:rPr>
              <a:t>Pantalla del aeropuerto</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f3e9ba4d12_0_17"/>
          <p:cNvSpPr/>
          <p:nvPr/>
        </p:nvSpPr>
        <p:spPr>
          <a:xfrm>
            <a:off x="-1614239" y="5587059"/>
            <a:ext cx="2377500" cy="23775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f3e9ba4d12_0_17"/>
          <p:cNvSpPr/>
          <p:nvPr/>
        </p:nvSpPr>
        <p:spPr>
          <a:xfrm>
            <a:off x="10872099" y="-1555754"/>
            <a:ext cx="4755000" cy="475500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f3e9ba4d12_0_17"/>
          <p:cNvSpPr/>
          <p:nvPr/>
        </p:nvSpPr>
        <p:spPr>
          <a:xfrm>
            <a:off x="640074" y="685800"/>
            <a:ext cx="77184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lang="en-US" sz="3200">
                <a:solidFill>
                  <a:srgbClr val="0B3D59"/>
                </a:solidFill>
                <a:latin typeface="Cambria"/>
                <a:ea typeface="Cambria"/>
                <a:cs typeface="Cambria"/>
                <a:sym typeface="Cambria"/>
              </a:rPr>
              <a:t>Observer:</a:t>
            </a:r>
            <a:r>
              <a:rPr b="1" lang="en-US" sz="3200">
                <a:solidFill>
                  <a:srgbClr val="0B3D59"/>
                </a:solidFill>
                <a:latin typeface="Cambria"/>
                <a:ea typeface="Cambria"/>
                <a:cs typeface="Cambria"/>
                <a:sym typeface="Cambria"/>
              </a:rPr>
              <a:t> Q</a:t>
            </a:r>
            <a:r>
              <a:rPr b="1" lang="en-US" sz="3200">
                <a:solidFill>
                  <a:srgbClr val="0B3D59"/>
                </a:solidFill>
                <a:latin typeface="Cambria"/>
                <a:ea typeface="Cambria"/>
                <a:cs typeface="Cambria"/>
                <a:sym typeface="Cambria"/>
              </a:rPr>
              <a:t>uién conoce a quién </a:t>
            </a:r>
            <a:endParaRPr b="0" i="0" sz="3200" u="none" cap="none" strike="noStrike">
              <a:solidFill>
                <a:schemeClr val="dk1"/>
              </a:solidFill>
              <a:latin typeface="Calibri"/>
              <a:ea typeface="Calibri"/>
              <a:cs typeface="Calibri"/>
              <a:sym typeface="Calibri"/>
            </a:endParaRPr>
          </a:p>
        </p:txBody>
      </p:sp>
      <p:sp>
        <p:nvSpPr>
          <p:cNvPr id="133" name="Google Shape;133;g3f3e9ba4d12_0_17"/>
          <p:cNvSpPr/>
          <p:nvPr/>
        </p:nvSpPr>
        <p:spPr>
          <a:xfrm>
            <a:off x="640080" y="384048"/>
            <a:ext cx="9144000" cy="320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 PATRÓN 3 DE 5 — COMPORTAMIENTO</a:t>
            </a:r>
            <a:endParaRPr b="0" i="0" sz="1250" u="none" cap="none" strike="noStrike">
              <a:solidFill>
                <a:schemeClr val="dk1"/>
              </a:solidFill>
              <a:latin typeface="Calibri"/>
              <a:ea typeface="Calibri"/>
              <a:cs typeface="Calibri"/>
              <a:sym typeface="Calibri"/>
            </a:endParaRPr>
          </a:p>
        </p:txBody>
      </p:sp>
      <p:pic>
        <p:nvPicPr>
          <p:cNvPr id="134" name="Google Shape;134;g3f3e9ba4d12_0_17" title="Sin títlo-1.jpg"/>
          <p:cNvPicPr preferRelativeResize="0"/>
          <p:nvPr/>
        </p:nvPicPr>
        <p:blipFill>
          <a:blip r:embed="rId3">
            <a:alphaModFix/>
          </a:blip>
          <a:stretch>
            <a:fillRect/>
          </a:stretch>
        </p:blipFill>
        <p:spPr>
          <a:xfrm>
            <a:off x="763250" y="1644375"/>
            <a:ext cx="11071150" cy="4686850"/>
          </a:xfrm>
          <a:prstGeom prst="rect">
            <a:avLst/>
          </a:prstGeom>
          <a:noFill/>
          <a:ln>
            <a:noFill/>
          </a:ln>
        </p:spPr>
      </p:pic>
      <p:sp>
        <p:nvSpPr>
          <p:cNvPr id="135" name="Google Shape;135;g3f3e9ba4d12_0_17"/>
          <p:cNvSpPr/>
          <p:nvPr/>
        </p:nvSpPr>
        <p:spPr>
          <a:xfrm>
            <a:off x="10838678" y="-1589182"/>
            <a:ext cx="4755000" cy="475500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8"/>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a:t>
            </a:r>
            <a:r>
              <a:rPr b="1" lang="en-US" sz="1250">
                <a:solidFill>
                  <a:srgbClr val="E8A33D"/>
                </a:solidFill>
                <a:latin typeface="Calibri"/>
                <a:ea typeface="Calibri"/>
                <a:cs typeface="Calibri"/>
                <a:sym typeface="Calibri"/>
              </a:rPr>
              <a:t>4 </a:t>
            </a:r>
            <a:r>
              <a:rPr b="1" i="0" lang="en-US" sz="1250" u="none" cap="none" strike="noStrike">
                <a:solidFill>
                  <a:srgbClr val="E8A33D"/>
                </a:solidFill>
                <a:latin typeface="Calibri"/>
                <a:ea typeface="Calibri"/>
                <a:cs typeface="Calibri"/>
                <a:sym typeface="Calibri"/>
              </a:rPr>
              <a:t>DE 5 — COMPORTAMIENTO</a:t>
            </a:r>
            <a:endParaRPr b="0" i="0" sz="1250" u="none" cap="none" strike="noStrike">
              <a:solidFill>
                <a:schemeClr val="dk1"/>
              </a:solidFill>
              <a:latin typeface="Calibri"/>
              <a:ea typeface="Calibri"/>
              <a:cs typeface="Calibri"/>
              <a:sym typeface="Calibri"/>
            </a:endParaRPr>
          </a:p>
        </p:txBody>
      </p:sp>
      <p:sp>
        <p:nvSpPr>
          <p:cNvPr id="142" name="Google Shape;142;p8"/>
          <p:cNvSpPr/>
          <p:nvPr/>
        </p:nvSpPr>
        <p:spPr>
          <a:xfrm>
            <a:off x="640080" y="685800"/>
            <a:ext cx="10881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State: control seguro del ciclo de vida del pasaje</a:t>
            </a:r>
            <a:endParaRPr b="0" i="0" sz="3200" u="none" cap="none" strike="noStrike">
              <a:solidFill>
                <a:schemeClr val="dk1"/>
              </a:solidFill>
              <a:latin typeface="Calibri"/>
              <a:ea typeface="Calibri"/>
              <a:cs typeface="Calibri"/>
              <a:sym typeface="Calibri"/>
            </a:endParaRPr>
          </a:p>
        </p:txBody>
      </p:sp>
      <p:sp>
        <p:nvSpPr>
          <p:cNvPr id="143" name="Google Shape;143;p8"/>
          <p:cNvSpPr/>
          <p:nvPr/>
        </p:nvSpPr>
        <p:spPr>
          <a:xfrm>
            <a:off x="640080" y="1691640"/>
            <a:ext cx="108813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30769"/>
              </a:lnSpc>
              <a:spcBef>
                <a:spcPts val="0"/>
              </a:spcBef>
              <a:spcAft>
                <a:spcPts val="0"/>
              </a:spcAft>
              <a:buClr>
                <a:srgbClr val="17242B"/>
              </a:buClr>
              <a:buSzPts val="1300"/>
              <a:buFont typeface="Calibri"/>
              <a:buNone/>
            </a:pPr>
            <a:r>
              <a:rPr b="0" i="0" lang="en-US" u="none" cap="none" strike="noStrike">
                <a:solidFill>
                  <a:srgbClr val="17242B"/>
                </a:solidFill>
                <a:latin typeface="Calibri"/>
                <a:ea typeface="Calibri"/>
                <a:cs typeface="Calibri"/>
                <a:sym typeface="Calibri"/>
              </a:rPr>
              <a:t>Validar con if/else anidados qué acciones permite cada etapa del pasaje (Emitido, Check-in, Abordaje, Cancelado) vuelve al sistema frágil y propenso a fallos de seguridad.</a:t>
            </a:r>
            <a:endParaRPr b="0" i="0" u="none" cap="none" strike="noStrike">
              <a:solidFill>
                <a:schemeClr val="dk1"/>
              </a:solidFill>
              <a:latin typeface="Calibri"/>
              <a:ea typeface="Calibri"/>
              <a:cs typeface="Calibri"/>
              <a:sym typeface="Calibri"/>
            </a:endParaRPr>
          </a:p>
        </p:txBody>
      </p:sp>
      <p:sp>
        <p:nvSpPr>
          <p:cNvPr id="144" name="Google Shape;144;p8"/>
          <p:cNvSpPr/>
          <p:nvPr/>
        </p:nvSpPr>
        <p:spPr>
          <a:xfrm>
            <a:off x="640085" y="2875723"/>
            <a:ext cx="2331600" cy="914400"/>
          </a:xfrm>
          <a:prstGeom prst="roundRect">
            <a:avLst>
              <a:gd fmla="val 50000" name="adj"/>
            </a:avLst>
          </a:prstGeom>
          <a:solidFill>
            <a:srgbClr val="1B8A9B"/>
          </a:solidFill>
          <a:ln>
            <a:noFill/>
          </a:ln>
          <a:effectLst>
            <a:outerShdw blurRad="63500" rotWithShape="0" algn="bl" dir="5400000" dist="25400">
              <a:srgbClr val="3A3A3A">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640075" y="3028863"/>
            <a:ext cx="2331600" cy="60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Emitido</a:t>
            </a:r>
            <a:endParaRPr b="0" i="0" sz="1400" u="none" cap="none" strike="noStrike">
              <a:solidFill>
                <a:schemeClr val="dk1"/>
              </a:solidFill>
              <a:latin typeface="Calibri"/>
              <a:ea typeface="Calibri"/>
              <a:cs typeface="Calibri"/>
              <a:sym typeface="Calibri"/>
            </a:endParaRPr>
          </a:p>
        </p:txBody>
      </p:sp>
      <p:cxnSp>
        <p:nvCxnSpPr>
          <p:cNvPr id="146" name="Google Shape;146;p8"/>
          <p:cNvCxnSpPr/>
          <p:nvPr/>
        </p:nvCxnSpPr>
        <p:spPr>
          <a:xfrm>
            <a:off x="2962160" y="3333402"/>
            <a:ext cx="1152600" cy="4200"/>
          </a:xfrm>
          <a:prstGeom prst="straightConnector1">
            <a:avLst/>
          </a:prstGeom>
          <a:noFill/>
          <a:ln cap="flat" cmpd="sng" w="25400">
            <a:solidFill>
              <a:srgbClr val="5B7480"/>
            </a:solidFill>
            <a:prstDash val="solid"/>
            <a:round/>
            <a:headEnd len="sm" w="sm" type="none"/>
            <a:tailEnd len="med" w="med" type="triangle"/>
          </a:ln>
        </p:spPr>
      </p:cxnSp>
      <p:sp>
        <p:nvSpPr>
          <p:cNvPr id="147" name="Google Shape;147;p8"/>
          <p:cNvSpPr/>
          <p:nvPr/>
        </p:nvSpPr>
        <p:spPr>
          <a:xfrm>
            <a:off x="4114800" y="2880360"/>
            <a:ext cx="2331600" cy="914400"/>
          </a:xfrm>
          <a:prstGeom prst="roundRect">
            <a:avLst>
              <a:gd fmla="val 50000" name="adj"/>
            </a:avLst>
          </a:prstGeom>
          <a:solidFill>
            <a:srgbClr val="1B8A9B"/>
          </a:solidFill>
          <a:ln>
            <a:noFill/>
          </a:ln>
          <a:effectLst>
            <a:outerShdw blurRad="63500" rotWithShape="0" algn="bl" dir="5400000" dist="25400">
              <a:srgbClr val="3A3A3A">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 name="Google Shape;148;p8"/>
          <p:cNvCxnSpPr>
            <a:endCxn id="149" idx="1"/>
          </p:cNvCxnSpPr>
          <p:nvPr/>
        </p:nvCxnSpPr>
        <p:spPr>
          <a:xfrm>
            <a:off x="6446385" y="3337560"/>
            <a:ext cx="1867800" cy="0"/>
          </a:xfrm>
          <a:prstGeom prst="straightConnector1">
            <a:avLst/>
          </a:prstGeom>
          <a:noFill/>
          <a:ln cap="flat" cmpd="sng" w="25400">
            <a:solidFill>
              <a:srgbClr val="5B7480"/>
            </a:solidFill>
            <a:prstDash val="solid"/>
            <a:round/>
            <a:headEnd len="sm" w="sm" type="none"/>
            <a:tailEnd len="med" w="med" type="triangle"/>
          </a:ln>
        </p:spPr>
      </p:cxnSp>
      <p:sp>
        <p:nvSpPr>
          <p:cNvPr id="150" name="Google Shape;150;p8"/>
          <p:cNvSpPr/>
          <p:nvPr/>
        </p:nvSpPr>
        <p:spPr>
          <a:xfrm>
            <a:off x="8314165" y="2880360"/>
            <a:ext cx="2331600" cy="914400"/>
          </a:xfrm>
          <a:prstGeom prst="roundRect">
            <a:avLst>
              <a:gd fmla="val 50000" name="adj"/>
            </a:avLst>
          </a:prstGeom>
          <a:solidFill>
            <a:srgbClr val="1B8A9B"/>
          </a:solidFill>
          <a:ln>
            <a:noFill/>
          </a:ln>
          <a:effectLst>
            <a:outerShdw blurRad="63500" rotWithShape="0" algn="bl" dir="5400000" dist="25400">
              <a:srgbClr val="3A3A3A">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2448585" y="4242773"/>
            <a:ext cx="2331600" cy="777300"/>
          </a:xfrm>
          <a:prstGeom prst="roundRect">
            <a:avLst>
              <a:gd fmla="val 58824" name="adj"/>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2448570" y="4238198"/>
            <a:ext cx="23316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Cancelado</a:t>
            </a:r>
            <a:endParaRPr b="0" i="0" sz="1300" u="none" cap="none" strike="noStrike">
              <a:solidFill>
                <a:schemeClr val="dk1"/>
              </a:solidFill>
              <a:latin typeface="Calibri"/>
              <a:ea typeface="Calibri"/>
              <a:cs typeface="Calibri"/>
              <a:sym typeface="Calibri"/>
            </a:endParaRPr>
          </a:p>
        </p:txBody>
      </p:sp>
      <p:cxnSp>
        <p:nvCxnSpPr>
          <p:cNvPr id="153" name="Google Shape;153;p8"/>
          <p:cNvCxnSpPr>
            <a:stCxn id="145" idx="2"/>
            <a:endCxn id="152" idx="1"/>
          </p:cNvCxnSpPr>
          <p:nvPr/>
        </p:nvCxnSpPr>
        <p:spPr>
          <a:xfrm>
            <a:off x="1805875" y="3636963"/>
            <a:ext cx="642600" cy="990000"/>
          </a:xfrm>
          <a:prstGeom prst="straightConnector1">
            <a:avLst/>
          </a:prstGeom>
          <a:noFill/>
          <a:ln cap="flat" cmpd="sng" w="22225">
            <a:solidFill>
              <a:srgbClr val="5B7480"/>
            </a:solidFill>
            <a:prstDash val="dash"/>
            <a:round/>
            <a:headEnd len="sm" w="sm" type="none"/>
            <a:tailEnd len="med" w="med" type="triangle"/>
          </a:ln>
        </p:spPr>
      </p:cxnSp>
      <p:sp>
        <p:nvSpPr>
          <p:cNvPr id="154" name="Google Shape;154;p8"/>
          <p:cNvSpPr/>
          <p:nvPr/>
        </p:nvSpPr>
        <p:spPr>
          <a:xfrm>
            <a:off x="640080" y="5349240"/>
            <a:ext cx="10908792" cy="1051560"/>
          </a:xfrm>
          <a:prstGeom prst="roundRect">
            <a:avLst>
              <a:gd fmla="val 6957" name="adj"/>
            </a:avLst>
          </a:prstGeom>
          <a:solidFill>
            <a:srgbClr val="EA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868680" y="5468112"/>
            <a:ext cx="104241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0B3D59"/>
              </a:buClr>
              <a:buSzPts val="1200"/>
              <a:buFont typeface="Calibri"/>
              <a:buNone/>
            </a:pPr>
            <a:r>
              <a:rPr b="1" i="0" lang="en-US" sz="1200" u="none" cap="none" strike="noStrike">
                <a:solidFill>
                  <a:srgbClr val="0B3D59"/>
                </a:solidFill>
                <a:latin typeface="Calibri"/>
                <a:ea typeface="Calibri"/>
                <a:cs typeface="Calibri"/>
                <a:sym typeface="Calibri"/>
              </a:rPr>
              <a:t>pasajeBase </a:t>
            </a:r>
            <a:r>
              <a:rPr b="0" i="0" lang="en-US" sz="1200" u="none" cap="none" strike="noStrike">
                <a:solidFill>
                  <a:srgbClr val="17242B"/>
                </a:solidFill>
                <a:latin typeface="Calibri"/>
                <a:ea typeface="Calibri"/>
                <a:cs typeface="Calibri"/>
                <a:sym typeface="Calibri"/>
              </a:rPr>
              <a:t>delega hacerCheckIn() y abordar() al </a:t>
            </a:r>
            <a:r>
              <a:rPr b="1" i="0" lang="en-US" sz="1200" u="none" cap="none" strike="noStrike">
                <a:solidFill>
                  <a:srgbClr val="0B3D59"/>
                </a:solidFill>
                <a:latin typeface="Calibri"/>
                <a:ea typeface="Calibri"/>
                <a:cs typeface="Calibri"/>
                <a:sym typeface="Calibri"/>
              </a:rPr>
              <a:t>estadoPasaje </a:t>
            </a:r>
            <a:r>
              <a:rPr b="0" i="0" lang="en-US" sz="1200" u="none" cap="none" strike="noStrike">
                <a:solidFill>
                  <a:srgbClr val="17242B"/>
                </a:solidFill>
                <a:latin typeface="Calibri"/>
                <a:ea typeface="Calibri"/>
                <a:cs typeface="Calibri"/>
                <a:sym typeface="Calibri"/>
              </a:rPr>
              <a:t>vigente. Cada estado concreto conoce solo sus transiciones válidas y lanza una excepción ante cualquier otra</a:t>
            </a:r>
            <a:r>
              <a:rPr lang="en-US" sz="1200">
                <a:solidFill>
                  <a:srgbClr val="17242B"/>
                </a:solidFill>
                <a:latin typeface="Calibri"/>
                <a:ea typeface="Calibri"/>
                <a:cs typeface="Calibri"/>
                <a:sym typeface="Calibri"/>
              </a:rPr>
              <a:t>. Ademas, a</a:t>
            </a:r>
            <a:r>
              <a:rPr b="0" i="0" lang="en-US" sz="1200" u="none" cap="none" strike="noStrike">
                <a:solidFill>
                  <a:srgbClr val="17242B"/>
                </a:solidFill>
                <a:latin typeface="Calibri"/>
                <a:ea typeface="Calibri"/>
                <a:cs typeface="Calibri"/>
                <a:sym typeface="Calibri"/>
              </a:rPr>
              <a:t>gregar un estado nuevo (p</a:t>
            </a:r>
            <a:r>
              <a:rPr lang="en-US" sz="1200">
                <a:solidFill>
                  <a:srgbClr val="17242B"/>
                </a:solidFill>
                <a:latin typeface="Calibri"/>
                <a:ea typeface="Calibri"/>
                <a:cs typeface="Calibri"/>
                <a:sym typeface="Calibri"/>
              </a:rPr>
              <a:t>or</a:t>
            </a:r>
            <a:r>
              <a:rPr b="0" i="0" lang="en-US" sz="1200" u="none" cap="none" strike="noStrike">
                <a:solidFill>
                  <a:srgbClr val="17242B"/>
                </a:solidFill>
                <a:latin typeface="Calibri"/>
                <a:ea typeface="Calibri"/>
                <a:cs typeface="Calibri"/>
                <a:sym typeface="Calibri"/>
              </a:rPr>
              <a:t> ej. NoPresentado) no toca el resto del código.</a:t>
            </a:r>
            <a:endParaRPr b="0" i="0" sz="1200" u="none" cap="none" strike="noStrike">
              <a:solidFill>
                <a:schemeClr val="dk1"/>
              </a:solidFill>
              <a:latin typeface="Calibri"/>
              <a:ea typeface="Calibri"/>
              <a:cs typeface="Calibri"/>
              <a:sym typeface="Calibri"/>
            </a:endParaRPr>
          </a:p>
        </p:txBody>
      </p:sp>
      <p:sp>
        <p:nvSpPr>
          <p:cNvPr id="156" name="Google Shape;156;p8"/>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157" name="Google Shape;157;p8"/>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cxnSp>
        <p:nvCxnSpPr>
          <p:cNvPr id="158" name="Google Shape;158;p8"/>
          <p:cNvCxnSpPr>
            <a:stCxn id="159" idx="2"/>
            <a:endCxn id="152" idx="3"/>
          </p:cNvCxnSpPr>
          <p:nvPr/>
        </p:nvCxnSpPr>
        <p:spPr>
          <a:xfrm flipH="1">
            <a:off x="4780200" y="3794760"/>
            <a:ext cx="500400" cy="832200"/>
          </a:xfrm>
          <a:prstGeom prst="straightConnector1">
            <a:avLst/>
          </a:prstGeom>
          <a:noFill/>
          <a:ln cap="flat" cmpd="sng" w="22225">
            <a:solidFill>
              <a:srgbClr val="5B7480"/>
            </a:solidFill>
            <a:prstDash val="dash"/>
            <a:round/>
            <a:headEnd len="sm" w="sm" type="none"/>
            <a:tailEnd len="med" w="med" type="triangle"/>
          </a:ln>
        </p:spPr>
      </p:cxnSp>
      <p:grpSp>
        <p:nvGrpSpPr>
          <p:cNvPr id="160" name="Google Shape;160;p8"/>
          <p:cNvGrpSpPr/>
          <p:nvPr/>
        </p:nvGrpSpPr>
        <p:grpSpPr>
          <a:xfrm>
            <a:off x="4114800" y="2576296"/>
            <a:ext cx="8885222" cy="1994575"/>
            <a:chOff x="4114800" y="2576296"/>
            <a:chExt cx="8885222" cy="1994575"/>
          </a:xfrm>
        </p:grpSpPr>
        <p:sp>
          <p:nvSpPr>
            <p:cNvPr id="159" name="Google Shape;159;p8"/>
            <p:cNvSpPr/>
            <p:nvPr/>
          </p:nvSpPr>
          <p:spPr>
            <a:xfrm>
              <a:off x="4114800" y="2880360"/>
              <a:ext cx="2331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Check-in</a:t>
              </a:r>
              <a:endParaRPr b="0" i="0" sz="1400" u="none" cap="none" strike="noStrike">
                <a:solidFill>
                  <a:schemeClr val="dk1"/>
                </a:solidFill>
                <a:latin typeface="Calibri"/>
                <a:ea typeface="Calibri"/>
                <a:cs typeface="Calibri"/>
                <a:sym typeface="Calibri"/>
              </a:endParaRPr>
            </a:p>
          </p:txBody>
        </p:sp>
        <p:sp>
          <p:nvSpPr>
            <p:cNvPr id="149" name="Google Shape;149;p8"/>
            <p:cNvSpPr/>
            <p:nvPr/>
          </p:nvSpPr>
          <p:spPr>
            <a:xfrm>
              <a:off x="8314185" y="2880360"/>
              <a:ext cx="2331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Abordado</a:t>
              </a:r>
              <a:endParaRPr b="0" i="0" sz="1400" u="none" cap="none" strike="noStrike">
                <a:solidFill>
                  <a:schemeClr val="dk1"/>
                </a:solidFill>
                <a:latin typeface="Calibri"/>
                <a:ea typeface="Calibri"/>
                <a:cs typeface="Calibri"/>
                <a:sym typeface="Calibri"/>
              </a:endParaRPr>
            </a:p>
          </p:txBody>
        </p:sp>
        <p:sp>
          <p:nvSpPr>
            <p:cNvPr id="161" name="Google Shape;161;p8"/>
            <p:cNvSpPr txBox="1"/>
            <p:nvPr/>
          </p:nvSpPr>
          <p:spPr>
            <a:xfrm>
              <a:off x="6446522" y="2576296"/>
              <a:ext cx="65535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Abordar()</a:t>
              </a:r>
              <a:endParaRPr/>
            </a:p>
            <a:p>
              <a:pPr indent="0" lvl="0" marL="0" rtl="0" algn="l">
                <a:spcBef>
                  <a:spcPts val="0"/>
                </a:spcBef>
                <a:spcAft>
                  <a:spcPts val="0"/>
                </a:spcAft>
                <a:buNone/>
              </a:pPr>
              <a:r>
                <a:rPr lang="en-US"/>
                <a:t>[Check-in relizado]</a:t>
              </a:r>
              <a:endParaRPr/>
            </a:p>
          </p:txBody>
        </p:sp>
        <p:sp>
          <p:nvSpPr>
            <p:cNvPr id="162" name="Google Shape;162;p8"/>
            <p:cNvSpPr txBox="1"/>
            <p:nvPr/>
          </p:nvSpPr>
          <p:spPr>
            <a:xfrm>
              <a:off x="5280731" y="3962771"/>
              <a:ext cx="65535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Cancelar()</a:t>
              </a:r>
              <a:endParaRPr/>
            </a:p>
            <a:p>
              <a:pPr indent="0" lvl="0" marL="0" rtl="0" algn="l">
                <a:spcBef>
                  <a:spcPts val="0"/>
                </a:spcBef>
                <a:spcAft>
                  <a:spcPts val="0"/>
                </a:spcAft>
                <a:buNone/>
              </a:pPr>
              <a:r>
                <a:rPr lang="en-US"/>
                <a:t>[Sin abordar]</a:t>
              </a:r>
              <a:endParaRPr/>
            </a:p>
          </p:txBody>
        </p:sp>
      </p:grpSp>
      <p:sp>
        <p:nvSpPr>
          <p:cNvPr id="163" name="Google Shape;163;p8"/>
          <p:cNvSpPr txBox="1"/>
          <p:nvPr/>
        </p:nvSpPr>
        <p:spPr>
          <a:xfrm>
            <a:off x="838056" y="4039346"/>
            <a:ext cx="65535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Cancelar()</a:t>
            </a:r>
            <a:endParaRPr/>
          </a:p>
          <a:p>
            <a:pPr indent="0" lvl="0" marL="0" rtl="0" algn="l">
              <a:spcBef>
                <a:spcPts val="0"/>
              </a:spcBef>
              <a:spcAft>
                <a:spcPts val="0"/>
              </a:spcAft>
              <a:buNone/>
            </a:pPr>
            <a:r>
              <a:rPr lang="en-US"/>
              <a:t>[Sin abordar]</a:t>
            </a:r>
            <a:endParaRPr/>
          </a:p>
        </p:txBody>
      </p:sp>
      <p:sp>
        <p:nvSpPr>
          <p:cNvPr id="164" name="Google Shape;164;p8"/>
          <p:cNvSpPr txBox="1"/>
          <p:nvPr/>
        </p:nvSpPr>
        <p:spPr>
          <a:xfrm>
            <a:off x="2962154" y="2469989"/>
            <a:ext cx="115617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HacerChekIn()</a:t>
            </a:r>
            <a:endParaRPr/>
          </a:p>
          <a:p>
            <a:pPr indent="0" lvl="0" marL="0" rtl="0" algn="l">
              <a:spcBef>
                <a:spcPts val="0"/>
              </a:spcBef>
              <a:spcAft>
                <a:spcPts val="0"/>
              </a:spcAft>
              <a:buNone/>
            </a:pPr>
            <a:r>
              <a:rPr lang="en-US"/>
              <a:t>[Pasaje v</a:t>
            </a:r>
            <a:r>
              <a:rPr lang="en-US"/>
              <a:t>álido]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9"/>
          <p:cNvSpPr/>
          <p:nvPr/>
        </p:nvSpPr>
        <p:spPr>
          <a:xfrm>
            <a:off x="6035030" y="1691590"/>
            <a:ext cx="5394900" cy="2011800"/>
          </a:xfrm>
          <a:prstGeom prst="roundRect">
            <a:avLst>
              <a:gd fmla="val 3636" name="adj"/>
            </a:avLst>
          </a:prstGeom>
          <a:solidFill>
            <a:srgbClr val="F4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640080" y="384048"/>
            <a:ext cx="9144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250"/>
              <a:buFont typeface="Calibri"/>
              <a:buNone/>
            </a:pPr>
            <a:r>
              <a:rPr b="1" lang="en-US" sz="1250">
                <a:solidFill>
                  <a:srgbClr val="E8A33D"/>
                </a:solidFill>
                <a:latin typeface="Calibri"/>
                <a:ea typeface="Calibri"/>
                <a:cs typeface="Calibri"/>
                <a:sym typeface="Calibri"/>
              </a:rPr>
              <a:t>2</a:t>
            </a:r>
            <a:r>
              <a:rPr b="1" i="0" lang="en-US" sz="1250" u="none" cap="none" strike="noStrike">
                <a:solidFill>
                  <a:srgbClr val="E8A33D"/>
                </a:solidFill>
                <a:latin typeface="Calibri"/>
                <a:ea typeface="Calibri"/>
                <a:cs typeface="Calibri"/>
                <a:sym typeface="Calibri"/>
              </a:rPr>
              <a:t>. PATRÓN </a:t>
            </a:r>
            <a:r>
              <a:rPr b="1" lang="en-US" sz="1250">
                <a:solidFill>
                  <a:srgbClr val="E8A33D"/>
                </a:solidFill>
                <a:latin typeface="Calibri"/>
                <a:ea typeface="Calibri"/>
                <a:cs typeface="Calibri"/>
                <a:sym typeface="Calibri"/>
              </a:rPr>
              <a:t>5</a:t>
            </a:r>
            <a:r>
              <a:rPr b="1" i="0" lang="en-US" sz="1250" u="none" cap="none" strike="noStrike">
                <a:solidFill>
                  <a:srgbClr val="E8A33D"/>
                </a:solidFill>
                <a:latin typeface="Calibri"/>
                <a:ea typeface="Calibri"/>
                <a:cs typeface="Calibri"/>
                <a:sym typeface="Calibri"/>
              </a:rPr>
              <a:t> DE 5 — CREACIONAL</a:t>
            </a:r>
            <a:endParaRPr b="0" i="0" sz="1250" u="none" cap="none" strike="noStrike">
              <a:solidFill>
                <a:schemeClr val="dk1"/>
              </a:solidFill>
              <a:latin typeface="Calibri"/>
              <a:ea typeface="Calibri"/>
              <a:cs typeface="Calibri"/>
              <a:sym typeface="Calibri"/>
            </a:endParaRPr>
          </a:p>
        </p:txBody>
      </p:sp>
      <p:sp>
        <p:nvSpPr>
          <p:cNvPr id="172" name="Google Shape;172;p9"/>
          <p:cNvSpPr/>
          <p:nvPr/>
        </p:nvSpPr>
        <p:spPr>
          <a:xfrm>
            <a:off x="640080" y="685800"/>
            <a:ext cx="10881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i="0" lang="en-US" sz="3200" u="none" cap="none" strike="noStrike">
                <a:solidFill>
                  <a:srgbClr val="0B3D59"/>
                </a:solidFill>
                <a:latin typeface="Cambria"/>
                <a:ea typeface="Cambria"/>
                <a:cs typeface="Cambria"/>
                <a:sym typeface="Cambria"/>
              </a:rPr>
              <a:t>Singleton: </a:t>
            </a:r>
            <a:r>
              <a:rPr b="1" lang="en-US" sz="3200">
                <a:solidFill>
                  <a:srgbClr val="0B3D59"/>
                </a:solidFill>
                <a:latin typeface="Cambria"/>
                <a:ea typeface="Cambria"/>
                <a:cs typeface="Cambria"/>
                <a:sym typeface="Cambria"/>
              </a:rPr>
              <a:t>instancia única</a:t>
            </a:r>
            <a:endParaRPr b="0" i="0" sz="3200" u="none" cap="none" strike="noStrike">
              <a:solidFill>
                <a:schemeClr val="dk1"/>
              </a:solidFill>
              <a:latin typeface="Calibri"/>
              <a:ea typeface="Calibri"/>
              <a:cs typeface="Calibri"/>
              <a:sym typeface="Calibri"/>
            </a:endParaRPr>
          </a:p>
        </p:txBody>
      </p:sp>
      <p:sp>
        <p:nvSpPr>
          <p:cNvPr id="173" name="Google Shape;173;p9"/>
          <p:cNvSpPr/>
          <p:nvPr/>
        </p:nvSpPr>
        <p:spPr>
          <a:xfrm>
            <a:off x="640075" y="1691650"/>
            <a:ext cx="4937700" cy="2011800"/>
          </a:xfrm>
          <a:prstGeom prst="roundRect">
            <a:avLst>
              <a:gd fmla="val 3636" name="adj"/>
            </a:avLst>
          </a:prstGeom>
          <a:solidFill>
            <a:srgbClr val="F4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868680" y="181051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800" u="none" cap="none" strike="noStrike">
                <a:solidFill>
                  <a:srgbClr val="0B3D59"/>
                </a:solidFill>
                <a:latin typeface="Calibri"/>
                <a:ea typeface="Calibri"/>
                <a:cs typeface="Calibri"/>
                <a:sym typeface="Calibri"/>
              </a:rPr>
              <a:t>Problema</a:t>
            </a:r>
            <a:endParaRPr b="0" i="0" sz="1800" u="none" cap="none" strike="noStrike">
              <a:solidFill>
                <a:schemeClr val="dk1"/>
              </a:solidFill>
              <a:latin typeface="Calibri"/>
              <a:ea typeface="Calibri"/>
              <a:cs typeface="Calibri"/>
              <a:sym typeface="Calibri"/>
            </a:endParaRPr>
          </a:p>
        </p:txBody>
      </p:sp>
      <p:sp>
        <p:nvSpPr>
          <p:cNvPr id="175" name="Google Shape;175;p9"/>
          <p:cNvSpPr/>
          <p:nvPr/>
        </p:nvSpPr>
        <p:spPr>
          <a:xfrm>
            <a:off x="640042" y="2148840"/>
            <a:ext cx="4937700" cy="150870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17242B"/>
              </a:buClr>
              <a:buSzPts val="1200"/>
              <a:buFont typeface="Calibri"/>
              <a:buNone/>
            </a:pPr>
            <a:r>
              <a:rPr b="0" i="0" lang="en-US" u="none" cap="none" strike="noStrike">
                <a:solidFill>
                  <a:srgbClr val="17242B"/>
                </a:solidFill>
                <a:latin typeface="Calibri"/>
                <a:ea typeface="Calibri"/>
                <a:cs typeface="Calibri"/>
                <a:sym typeface="Calibri"/>
              </a:rPr>
              <a:t>Emisión de pasajes, check-in y notificaciones son procesos concurrentes que necesitan el mismo listado de vuelos activos. Instancias separadas del administrador provocan sobreventa de asientos e inconsistencias.</a:t>
            </a:r>
            <a:endParaRPr b="0" i="0" u="none" cap="none" strike="noStrike">
              <a:solidFill>
                <a:schemeClr val="dk1"/>
              </a:solidFill>
              <a:latin typeface="Calibri"/>
              <a:ea typeface="Calibri"/>
              <a:cs typeface="Calibri"/>
              <a:sym typeface="Calibri"/>
            </a:endParaRPr>
          </a:p>
        </p:txBody>
      </p:sp>
      <p:grpSp>
        <p:nvGrpSpPr>
          <p:cNvPr id="176" name="Google Shape;176;p9"/>
          <p:cNvGrpSpPr/>
          <p:nvPr/>
        </p:nvGrpSpPr>
        <p:grpSpPr>
          <a:xfrm>
            <a:off x="6263592" y="1874513"/>
            <a:ext cx="4937760" cy="2057335"/>
            <a:chOff x="868680" y="3959352"/>
            <a:chExt cx="4937760" cy="2057335"/>
          </a:xfrm>
        </p:grpSpPr>
        <p:sp>
          <p:nvSpPr>
            <p:cNvPr id="177" name="Google Shape;177;p9"/>
            <p:cNvSpPr/>
            <p:nvPr/>
          </p:nvSpPr>
          <p:spPr>
            <a:xfrm>
              <a:off x="868680" y="395935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1300"/>
                <a:buFont typeface="Calibri"/>
                <a:buNone/>
              </a:pPr>
              <a:r>
                <a:rPr b="1" i="0" lang="en-US" sz="1800" u="none" cap="none" strike="noStrike">
                  <a:solidFill>
                    <a:srgbClr val="0B3D59"/>
                  </a:solidFill>
                  <a:latin typeface="Calibri"/>
                  <a:ea typeface="Calibri"/>
                  <a:cs typeface="Calibri"/>
                  <a:sym typeface="Calibri"/>
                </a:rPr>
                <a:t>Solución </a:t>
              </a:r>
              <a:r>
                <a:rPr b="1" i="0" lang="en-US" sz="1800" u="none" cap="none" strike="noStrike">
                  <a:solidFill>
                    <a:srgbClr val="0B3D59"/>
                  </a:solidFill>
                  <a:latin typeface="Calibri"/>
                  <a:ea typeface="Calibri"/>
                  <a:cs typeface="Calibri"/>
                  <a:sym typeface="Calibri"/>
                </a:rPr>
                <a:t>aplicada</a:t>
              </a:r>
              <a:endParaRPr b="0" i="0" sz="1800" u="none" cap="none" strike="noStrike">
                <a:solidFill>
                  <a:schemeClr val="dk1"/>
                </a:solidFill>
                <a:latin typeface="Calibri"/>
                <a:ea typeface="Calibri"/>
                <a:cs typeface="Calibri"/>
                <a:sym typeface="Calibri"/>
              </a:endParaRPr>
            </a:p>
          </p:txBody>
        </p:sp>
        <p:sp>
          <p:nvSpPr>
            <p:cNvPr id="178" name="Google Shape;178;p9"/>
            <p:cNvSpPr/>
            <p:nvPr/>
          </p:nvSpPr>
          <p:spPr>
            <a:xfrm>
              <a:off x="868688" y="4279387"/>
              <a:ext cx="4937700" cy="1737300"/>
            </a:xfrm>
            <a:prstGeom prst="rect">
              <a:avLst/>
            </a:prstGeom>
            <a:noFill/>
            <a:ln>
              <a:noFill/>
            </a:ln>
          </p:spPr>
          <p:txBody>
            <a:bodyPr anchorCtr="0" anchor="ctr" bIns="45700" lIns="91425" spcFirstLastPara="1" rIns="91425" wrap="square" tIns="45700">
              <a:noAutofit/>
            </a:bodyPr>
            <a:lstStyle/>
            <a:p>
              <a:pPr indent="0" lvl="0" marL="0" marR="0" rtl="0" algn="l">
                <a:lnSpc>
                  <a:spcPct val="133333"/>
                </a:lnSpc>
                <a:spcBef>
                  <a:spcPts val="0"/>
                </a:spcBef>
                <a:spcAft>
                  <a:spcPts val="0"/>
                </a:spcAft>
                <a:buClr>
                  <a:srgbClr val="17242B"/>
                </a:buClr>
                <a:buSzPts val="1200"/>
                <a:buFont typeface="Calibri"/>
                <a:buNone/>
              </a:pPr>
              <a:r>
                <a:rPr b="0" i="0" lang="en-US" u="none" cap="none" strike="noStrike">
                  <a:solidFill>
                    <a:srgbClr val="17242B"/>
                  </a:solidFill>
                  <a:latin typeface="Calibri"/>
                  <a:ea typeface="Calibri"/>
                  <a:cs typeface="Calibri"/>
                  <a:sym typeface="Calibri"/>
                </a:rPr>
                <a:t>Co</a:t>
              </a:r>
              <a:r>
                <a:rPr b="0" i="0" lang="en-US" u="none" cap="none" strike="noStrike">
                  <a:solidFill>
                    <a:srgbClr val="17242B"/>
                  </a:solidFill>
                  <a:latin typeface="Calibri"/>
                  <a:ea typeface="Calibri"/>
                  <a:cs typeface="Calibri"/>
                  <a:sym typeface="Calibri"/>
                </a:rPr>
                <a:t>nstructor privado + método estático obtenerInstancia(). Se usa tanto en sistemaAerolinea (punto de acceso global al catálogo) como en los estados de State, que no tienen atributos propios y no justifican múltiples instancias.</a:t>
              </a:r>
              <a:endParaRPr b="0" i="0" u="none" cap="none" strike="noStrike">
                <a:solidFill>
                  <a:schemeClr val="dk1"/>
                </a:solidFill>
                <a:latin typeface="Calibri"/>
                <a:ea typeface="Calibri"/>
                <a:cs typeface="Calibri"/>
                <a:sym typeface="Calibri"/>
              </a:endParaRPr>
            </a:p>
          </p:txBody>
        </p:sp>
      </p:grpSp>
      <p:sp>
        <p:nvSpPr>
          <p:cNvPr id="179" name="Google Shape;179;p9"/>
          <p:cNvSpPr/>
          <p:nvPr/>
        </p:nvSpPr>
        <p:spPr>
          <a:xfrm>
            <a:off x="1471675" y="3886225"/>
            <a:ext cx="8312400" cy="2971800"/>
          </a:xfrm>
          <a:prstGeom prst="roundRect">
            <a:avLst>
              <a:gd fmla="val 1649" name="adj"/>
            </a:avLst>
          </a:prstGeom>
          <a:solidFill>
            <a:srgbClr val="0B3D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181" name="Google Shape;181;p9"/>
          <p:cNvPicPr preferRelativeResize="0"/>
          <p:nvPr/>
        </p:nvPicPr>
        <p:blipFill>
          <a:blip r:embed="rId3">
            <a:alphaModFix/>
          </a:blip>
          <a:stretch>
            <a:fillRect/>
          </a:stretch>
        </p:blipFill>
        <p:spPr>
          <a:xfrm>
            <a:off x="2504700" y="4297700"/>
            <a:ext cx="6246340" cy="228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g7e49ea8e1bc40e27_1"/>
          <p:cNvPicPr preferRelativeResize="0"/>
          <p:nvPr/>
        </p:nvPicPr>
        <p:blipFill>
          <a:blip r:embed="rId3">
            <a:alphaModFix/>
          </a:blip>
          <a:stretch>
            <a:fillRect/>
          </a:stretch>
        </p:blipFill>
        <p:spPr>
          <a:xfrm>
            <a:off x="1098299" y="634850"/>
            <a:ext cx="9995399" cy="5588300"/>
          </a:xfrm>
          <a:prstGeom prst="rect">
            <a:avLst/>
          </a:prstGeom>
          <a:noFill/>
          <a:ln>
            <a:noFill/>
          </a:ln>
        </p:spPr>
      </p:pic>
      <p:sp>
        <p:nvSpPr>
          <p:cNvPr id="188" name="Google Shape;188;g7e49ea8e1bc40e27_1"/>
          <p:cNvSpPr/>
          <p:nvPr/>
        </p:nvSpPr>
        <p:spPr>
          <a:xfrm>
            <a:off x="457200" y="6473952"/>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189" name="Google Shape;189;g7e49ea8e1bc40e27_1"/>
          <p:cNvSpPr/>
          <p:nvPr/>
        </p:nvSpPr>
        <p:spPr>
          <a:xfrm>
            <a:off x="212405" y="0"/>
            <a:ext cx="108813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3200"/>
              <a:buFont typeface="Cambria"/>
              <a:buNone/>
            </a:pPr>
            <a:r>
              <a:rPr b="1" lang="en-US" sz="3200">
                <a:solidFill>
                  <a:srgbClr val="0B3D59"/>
                </a:solidFill>
                <a:latin typeface="Cambria"/>
                <a:ea typeface="Cambria"/>
                <a:cs typeface="Cambria"/>
                <a:sym typeface="Cambria"/>
              </a:rPr>
              <a:t>Estructura</a:t>
            </a:r>
            <a:endParaRPr b="0" i="0" sz="3200" u="none" cap="none" strike="noStrike">
              <a:solidFill>
                <a:schemeClr val="dk1"/>
              </a:solidFill>
              <a:latin typeface="Calibri"/>
              <a:ea typeface="Calibri"/>
              <a:cs typeface="Calibri"/>
              <a:sym typeface="Calibri"/>
            </a:endParaRPr>
          </a:p>
        </p:txBody>
      </p:sp>
      <p:sp>
        <p:nvSpPr>
          <p:cNvPr id="190" name="Google Shape;190;g7e49ea8e1bc40e27_1"/>
          <p:cNvSpPr/>
          <p:nvPr/>
        </p:nvSpPr>
        <p:spPr>
          <a:xfrm>
            <a:off x="11093711" y="5727309"/>
            <a:ext cx="2377500" cy="23775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7e49ea8e1bc40e27_1"/>
          <p:cNvSpPr/>
          <p:nvPr/>
        </p:nvSpPr>
        <p:spPr>
          <a:xfrm>
            <a:off x="9904949" y="-2967529"/>
            <a:ext cx="4755000" cy="475500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D59"/>
        </a:solidFill>
      </p:bgPr>
    </p:bg>
    <p:spTree>
      <p:nvGrpSpPr>
        <p:cNvPr id="196" name="Shape 196"/>
        <p:cNvGrpSpPr/>
        <p:nvPr/>
      </p:nvGrpSpPr>
      <p:grpSpPr>
        <a:xfrm>
          <a:off x="0" y="0"/>
          <a:ext cx="0" cy="0"/>
          <a:chOff x="0" y="0"/>
          <a:chExt cx="0" cy="0"/>
        </a:xfrm>
      </p:grpSpPr>
      <p:sp>
        <p:nvSpPr>
          <p:cNvPr id="197" name="Google Shape;197;p12"/>
          <p:cNvSpPr/>
          <p:nvPr/>
        </p:nvSpPr>
        <p:spPr>
          <a:xfrm>
            <a:off x="9418320" y="-1371600"/>
            <a:ext cx="3931920" cy="3931920"/>
          </a:xfrm>
          <a:prstGeom prst="ellipse">
            <a:avLst/>
          </a:prstGeom>
          <a:solidFill>
            <a:srgbClr val="1B8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1920240" y="6263640"/>
            <a:ext cx="2103120" cy="210312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685800" y="5486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33D"/>
              </a:buClr>
              <a:buSzPts val="1300"/>
              <a:buFont typeface="Calibri"/>
              <a:buNone/>
            </a:pPr>
            <a:r>
              <a:rPr b="1" lang="en-US" sz="1300">
                <a:solidFill>
                  <a:srgbClr val="E8A33D"/>
                </a:solidFill>
                <a:latin typeface="Calibri"/>
                <a:ea typeface="Calibri"/>
                <a:cs typeface="Calibri"/>
                <a:sym typeface="Calibri"/>
              </a:rPr>
              <a:t>3</a:t>
            </a:r>
            <a:r>
              <a:rPr b="1" i="0" lang="en-US" sz="1300" u="none" cap="none" strike="noStrike">
                <a:solidFill>
                  <a:srgbClr val="E8A33D"/>
                </a:solidFill>
                <a:latin typeface="Calibri"/>
                <a:ea typeface="Calibri"/>
                <a:cs typeface="Calibri"/>
                <a:sym typeface="Calibri"/>
              </a:rPr>
              <a:t>. CONCLUSIÓN</a:t>
            </a:r>
            <a:endParaRPr b="0" i="0" sz="1300" u="none" cap="none" strike="noStrike">
              <a:solidFill>
                <a:schemeClr val="dk1"/>
              </a:solidFill>
              <a:latin typeface="Calibri"/>
              <a:ea typeface="Calibri"/>
              <a:cs typeface="Calibri"/>
              <a:sym typeface="Calibri"/>
            </a:endParaRPr>
          </a:p>
        </p:txBody>
      </p:sp>
      <p:sp>
        <p:nvSpPr>
          <p:cNvPr id="200" name="Google Shape;200;p12"/>
          <p:cNvSpPr/>
          <p:nvPr/>
        </p:nvSpPr>
        <p:spPr>
          <a:xfrm>
            <a:off x="685800" y="914400"/>
            <a:ext cx="749808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14285"/>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Cinco problemas reales,</a:t>
            </a:r>
            <a:endParaRPr b="0" i="0" sz="2800" u="none" cap="none" strike="noStrike">
              <a:solidFill>
                <a:schemeClr val="dk1"/>
              </a:solidFill>
              <a:latin typeface="Calibri"/>
              <a:ea typeface="Calibri"/>
              <a:cs typeface="Calibri"/>
              <a:sym typeface="Calibri"/>
            </a:endParaRPr>
          </a:p>
          <a:p>
            <a:pPr indent="0" lvl="0" marL="0" marR="0" rtl="0" algn="l">
              <a:lnSpc>
                <a:spcPct val="114285"/>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cinco patrones con propósito</a:t>
            </a:r>
            <a:endParaRPr b="0" i="0" sz="2800" u="none" cap="none" strike="noStrike">
              <a:solidFill>
                <a:schemeClr val="dk1"/>
              </a:solidFill>
              <a:latin typeface="Calibri"/>
              <a:ea typeface="Calibri"/>
              <a:cs typeface="Calibri"/>
              <a:sym typeface="Calibri"/>
            </a:endParaRPr>
          </a:p>
        </p:txBody>
      </p:sp>
      <p:sp>
        <p:nvSpPr>
          <p:cNvPr id="201" name="Google Shape;201;p12"/>
          <p:cNvSpPr/>
          <p:nvPr/>
        </p:nvSpPr>
        <p:spPr>
          <a:xfrm>
            <a:off x="713232" y="2596896"/>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1024128" y="2514600"/>
            <a:ext cx="70408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Factory Method  </a:t>
            </a:r>
            <a:r>
              <a:rPr b="0" i="0" lang="en-US" sz="1300" u="none" cap="none" strike="noStrike">
                <a:solidFill>
                  <a:srgbClr val="CFE3EA"/>
                </a:solidFill>
                <a:latin typeface="Calibri"/>
                <a:ea typeface="Calibri"/>
                <a:cs typeface="Calibri"/>
                <a:sym typeface="Calibri"/>
              </a:rPr>
              <a:t>para no depender de instanciaciones directas</a:t>
            </a:r>
            <a:endParaRPr b="0" i="0" sz="1300" u="none" cap="none" strike="noStrike">
              <a:solidFill>
                <a:schemeClr val="dk1"/>
              </a:solidFill>
              <a:latin typeface="Calibri"/>
              <a:ea typeface="Calibri"/>
              <a:cs typeface="Calibri"/>
              <a:sym typeface="Calibri"/>
            </a:endParaRPr>
          </a:p>
        </p:txBody>
      </p:sp>
      <p:sp>
        <p:nvSpPr>
          <p:cNvPr id="203" name="Google Shape;203;p12"/>
          <p:cNvSpPr/>
          <p:nvPr/>
        </p:nvSpPr>
        <p:spPr>
          <a:xfrm>
            <a:off x="713232" y="3182112"/>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1024128" y="3099816"/>
            <a:ext cx="70408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Decorator  </a:t>
            </a:r>
            <a:r>
              <a:rPr b="0" i="0" lang="en-US" sz="1300" u="none" cap="none" strike="noStrike">
                <a:solidFill>
                  <a:srgbClr val="CFE3EA"/>
                </a:solidFill>
                <a:latin typeface="Calibri"/>
                <a:ea typeface="Calibri"/>
                <a:cs typeface="Calibri"/>
                <a:sym typeface="Calibri"/>
              </a:rPr>
              <a:t>para vender servicios de forma dinámica</a:t>
            </a:r>
            <a:endParaRPr b="0" i="0" sz="1300" u="none" cap="none" strike="noStrike">
              <a:solidFill>
                <a:schemeClr val="dk1"/>
              </a:solidFill>
              <a:latin typeface="Calibri"/>
              <a:ea typeface="Calibri"/>
              <a:cs typeface="Calibri"/>
              <a:sym typeface="Calibri"/>
            </a:endParaRPr>
          </a:p>
        </p:txBody>
      </p:sp>
      <p:sp>
        <p:nvSpPr>
          <p:cNvPr id="205" name="Google Shape;205;p12"/>
          <p:cNvSpPr/>
          <p:nvPr/>
        </p:nvSpPr>
        <p:spPr>
          <a:xfrm>
            <a:off x="713232" y="3767328"/>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1024128" y="3685032"/>
            <a:ext cx="70408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  </a:t>
            </a:r>
            <a:r>
              <a:rPr b="0" i="0" lang="en-US" sz="1300" u="none" cap="none" strike="noStrike">
                <a:solidFill>
                  <a:srgbClr val="CFE3EA"/>
                </a:solidFill>
                <a:latin typeface="Calibri"/>
                <a:ea typeface="Calibri"/>
                <a:cs typeface="Calibri"/>
                <a:sym typeface="Calibri"/>
              </a:rPr>
              <a:t>para un control seguro de los estados del pasaje</a:t>
            </a:r>
            <a:endParaRPr b="0" i="0" sz="1300" u="none" cap="none" strike="noStrike">
              <a:solidFill>
                <a:schemeClr val="dk1"/>
              </a:solidFill>
              <a:latin typeface="Calibri"/>
              <a:ea typeface="Calibri"/>
              <a:cs typeface="Calibri"/>
              <a:sym typeface="Calibri"/>
            </a:endParaRPr>
          </a:p>
        </p:txBody>
      </p:sp>
      <p:sp>
        <p:nvSpPr>
          <p:cNvPr id="207" name="Google Shape;207;p12"/>
          <p:cNvSpPr/>
          <p:nvPr/>
        </p:nvSpPr>
        <p:spPr>
          <a:xfrm>
            <a:off x="713232" y="4352544"/>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1024128" y="4270248"/>
            <a:ext cx="70408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Observer  </a:t>
            </a:r>
            <a:r>
              <a:rPr b="0" i="0" lang="en-US" sz="1300" u="none" cap="none" strike="noStrike">
                <a:solidFill>
                  <a:srgbClr val="CFE3EA"/>
                </a:solidFill>
                <a:latin typeface="Calibri"/>
                <a:ea typeface="Calibri"/>
                <a:cs typeface="Calibri"/>
                <a:sym typeface="Calibri"/>
              </a:rPr>
              <a:t>para descentralizar la información</a:t>
            </a:r>
            <a:endParaRPr b="0" i="0" sz="1300" u="none" cap="none" strike="noStrike">
              <a:solidFill>
                <a:schemeClr val="dk1"/>
              </a:solidFill>
              <a:latin typeface="Calibri"/>
              <a:ea typeface="Calibri"/>
              <a:cs typeface="Calibri"/>
              <a:sym typeface="Calibri"/>
            </a:endParaRPr>
          </a:p>
        </p:txBody>
      </p:sp>
      <p:sp>
        <p:nvSpPr>
          <p:cNvPr id="209" name="Google Shape;209;p12"/>
          <p:cNvSpPr/>
          <p:nvPr/>
        </p:nvSpPr>
        <p:spPr>
          <a:xfrm>
            <a:off x="713232" y="4937760"/>
            <a:ext cx="137160" cy="13716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1024128" y="4855464"/>
            <a:ext cx="704088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Singleton  </a:t>
            </a:r>
            <a:r>
              <a:rPr b="0" i="0" lang="en-US" sz="1300" u="none" cap="none" strike="noStrike">
                <a:solidFill>
                  <a:srgbClr val="CFE3EA"/>
                </a:solidFill>
                <a:latin typeface="Calibri"/>
                <a:ea typeface="Calibri"/>
                <a:cs typeface="Calibri"/>
                <a:sym typeface="Calibri"/>
              </a:rPr>
              <a:t>para tener control real sobre el uso de memoria en C++</a:t>
            </a:r>
            <a:endParaRPr b="0" i="0" sz="1300" u="none" cap="none" strike="noStrike">
              <a:solidFill>
                <a:schemeClr val="dk1"/>
              </a:solidFill>
              <a:latin typeface="Calibri"/>
              <a:ea typeface="Calibri"/>
              <a:cs typeface="Calibri"/>
              <a:sym typeface="Calibri"/>
            </a:endParaRPr>
          </a:p>
        </p:txBody>
      </p:sp>
      <p:sp>
        <p:nvSpPr>
          <p:cNvPr id="211" name="Google Shape;211;p12"/>
          <p:cNvSpPr/>
          <p:nvPr/>
        </p:nvSpPr>
        <p:spPr>
          <a:xfrm>
            <a:off x="8366760" y="1051560"/>
            <a:ext cx="3154680" cy="5120640"/>
          </a:xfrm>
          <a:prstGeom prst="roundRect">
            <a:avLst>
              <a:gd fmla="val 2899" name="adj"/>
            </a:avLst>
          </a:prstGeom>
          <a:solidFill>
            <a:srgbClr val="0E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8641080" y="1371600"/>
            <a:ext cx="2651760" cy="4206240"/>
          </a:xfrm>
          <a:prstGeom prst="rect">
            <a:avLst/>
          </a:prstGeom>
          <a:noFill/>
          <a:ln>
            <a:noFill/>
          </a:ln>
        </p:spPr>
        <p:txBody>
          <a:bodyPr anchorCtr="0" anchor="t" bIns="45700" lIns="91425" spcFirstLastPara="1" rIns="91425" wrap="square" tIns="45700">
            <a:noAutofit/>
          </a:bodyPr>
          <a:lstStyle/>
          <a:p>
            <a:pPr indent="0" lvl="0" marL="0" marR="0" rtl="0" algn="l">
              <a:lnSpc>
                <a:spcPct val="148148"/>
              </a:lnSpc>
              <a:spcBef>
                <a:spcPts val="0"/>
              </a:spcBef>
              <a:spcAft>
                <a:spcPts val="0"/>
              </a:spcAft>
              <a:buClr>
                <a:srgbClr val="FFFFFF"/>
              </a:buClr>
              <a:buSzPts val="1350"/>
              <a:buFont typeface="Calibri"/>
              <a:buNone/>
            </a:pPr>
            <a:r>
              <a:rPr b="0" i="1" lang="en-US" sz="1350" u="none" cap="none" strike="noStrike">
                <a:solidFill>
                  <a:srgbClr val="FFFFFF"/>
                </a:solidFill>
                <a:latin typeface="Calibri"/>
                <a:ea typeface="Calibri"/>
                <a:cs typeface="Calibri"/>
                <a:sym typeface="Calibri"/>
              </a:rPr>
              <a:t>“Los patrones de diseño están lejos de ser simples conceptos teóricos: son herramientas reales para construir software robusto, mantenible y escalable.”</a:t>
            </a:r>
            <a:endParaRPr b="0" i="0" sz="1350" u="none" cap="none" strike="noStrike">
              <a:solidFill>
                <a:schemeClr val="dk1"/>
              </a:solidFill>
              <a:latin typeface="Calibri"/>
              <a:ea typeface="Calibri"/>
              <a:cs typeface="Calibri"/>
              <a:sym typeface="Calibri"/>
            </a:endParaRPr>
          </a:p>
        </p:txBody>
      </p:sp>
      <p:sp>
        <p:nvSpPr>
          <p:cNvPr id="213" name="Google Shape;213;p12"/>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B4C7"/>
              </a:buClr>
              <a:buSzPts val="900"/>
              <a:buFont typeface="Calibri"/>
              <a:buNone/>
            </a:pPr>
            <a:r>
              <a:rPr b="0" i="0" lang="en-US" sz="900" u="none" cap="none" strike="noStrike">
                <a:solidFill>
                  <a:srgbClr val="8FB4C7"/>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214" name="Google Shape;214;p12"/>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B4C7"/>
              </a:buClr>
              <a:buSzPts val="900"/>
              <a:buFont typeface="Calibri"/>
              <a:buNone/>
            </a:pPr>
            <a:r>
              <a:rPr b="0" i="0" lang="en-US" sz="900" u="none" cap="none" strike="noStrike">
                <a:solidFill>
                  <a:srgbClr val="8FB4C7"/>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3"/>
          <p:cNvSpPr/>
          <p:nvPr/>
        </p:nvSpPr>
        <p:spPr>
          <a:xfrm>
            <a:off x="9052560" y="914400"/>
            <a:ext cx="3566160" cy="3566160"/>
          </a:xfrm>
          <a:prstGeom prst="ellipse">
            <a:avLst/>
          </a:prstGeom>
          <a:solidFill>
            <a:srgbClr val="EA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9921240" y="1783080"/>
            <a:ext cx="1828800" cy="1828800"/>
          </a:xfrm>
          <a:prstGeom prst="ellipse">
            <a:avLst/>
          </a:prstGeom>
          <a:solidFill>
            <a:srgbClr val="0B3D59"/>
          </a:solidFill>
          <a:ln>
            <a:noFill/>
          </a:ln>
          <a:effectLst>
            <a:outerShdw blurRad="76200" rotWithShape="0" algn="bl" dir="5400000" dist="25400">
              <a:srgbClr val="3A3A3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cineclub_deck/icon_departure_white.png" id="222" name="Google Shape;222;p13"/>
          <p:cNvPicPr preferRelativeResize="0"/>
          <p:nvPr/>
        </p:nvPicPr>
        <p:blipFill rotWithShape="1">
          <a:blip r:embed="rId3">
            <a:alphaModFix/>
          </a:blip>
          <a:srcRect b="0" l="0" r="0" t="0"/>
          <a:stretch/>
        </p:blipFill>
        <p:spPr>
          <a:xfrm>
            <a:off x="10360152" y="2221992"/>
            <a:ext cx="950976" cy="950976"/>
          </a:xfrm>
          <a:prstGeom prst="rect">
            <a:avLst/>
          </a:prstGeom>
          <a:noFill/>
          <a:ln>
            <a:noFill/>
          </a:ln>
        </p:spPr>
      </p:pic>
      <p:sp>
        <p:nvSpPr>
          <p:cNvPr id="223" name="Google Shape;223;p13"/>
          <p:cNvSpPr/>
          <p:nvPr/>
        </p:nvSpPr>
        <p:spPr>
          <a:xfrm>
            <a:off x="685800" y="233172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3D59"/>
              </a:buClr>
              <a:buSzPts val="4000"/>
              <a:buFont typeface="Cambria"/>
              <a:buNone/>
            </a:pPr>
            <a:r>
              <a:rPr b="1" i="0" lang="en-US" sz="4000" u="none" cap="none" strike="noStrike">
                <a:solidFill>
                  <a:srgbClr val="0B3D59"/>
                </a:solidFill>
                <a:latin typeface="Cambria"/>
                <a:ea typeface="Cambria"/>
                <a:cs typeface="Cambria"/>
                <a:sym typeface="Cambria"/>
              </a:rPr>
              <a:t>¡Muchas gracias!</a:t>
            </a:r>
            <a:endParaRPr b="0" i="0" sz="4000" u="none" cap="none" strike="noStrike">
              <a:solidFill>
                <a:schemeClr val="dk1"/>
              </a:solidFill>
              <a:latin typeface="Calibri"/>
              <a:ea typeface="Calibri"/>
              <a:cs typeface="Calibri"/>
              <a:sym typeface="Calibri"/>
            </a:endParaRPr>
          </a:p>
        </p:txBody>
      </p:sp>
      <p:sp>
        <p:nvSpPr>
          <p:cNvPr id="224" name="Google Shape;224;p13"/>
          <p:cNvSpPr/>
          <p:nvPr/>
        </p:nvSpPr>
        <p:spPr>
          <a:xfrm>
            <a:off x="685800" y="320040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1400"/>
              <a:buFont typeface="Calibri"/>
              <a:buNone/>
            </a:pPr>
            <a:r>
              <a:rPr b="0" i="1" lang="en-US" sz="1400" u="none" cap="none" strike="noStrike">
                <a:solidFill>
                  <a:srgbClr val="5B7480"/>
                </a:solidFill>
                <a:latin typeface="Calibri"/>
                <a:ea typeface="Calibri"/>
                <a:cs typeface="Calibri"/>
                <a:sym typeface="Calibri"/>
              </a:rPr>
              <a:t>Sistema de Gestión de Vuelos y Pasajes Aeronáuticos</a:t>
            </a:r>
            <a:r>
              <a:rPr i="1" lang="en-US">
                <a:solidFill>
                  <a:srgbClr val="5B748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cxnSp>
        <p:nvCxnSpPr>
          <p:cNvPr id="225" name="Google Shape;225;p13"/>
          <p:cNvCxnSpPr/>
          <p:nvPr/>
        </p:nvCxnSpPr>
        <p:spPr>
          <a:xfrm>
            <a:off x="713232" y="3886200"/>
            <a:ext cx="1828800" cy="0"/>
          </a:xfrm>
          <a:prstGeom prst="straightConnector1">
            <a:avLst/>
          </a:prstGeom>
          <a:noFill/>
          <a:ln cap="flat" cmpd="sng" w="31750">
            <a:solidFill>
              <a:srgbClr val="E8A33D"/>
            </a:solidFill>
            <a:prstDash val="solid"/>
            <a:round/>
            <a:headEnd len="sm" w="sm" type="none"/>
            <a:tailEnd len="sm" w="sm" type="none"/>
          </a:ln>
        </p:spPr>
      </p:cxnSp>
      <p:sp>
        <p:nvSpPr>
          <p:cNvPr id="226" name="Google Shape;226;p13"/>
          <p:cNvSpPr/>
          <p:nvPr/>
        </p:nvSpPr>
        <p:spPr>
          <a:xfrm>
            <a:off x="685800" y="41148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242B"/>
              </a:buClr>
              <a:buSzPts val="1300"/>
              <a:buFont typeface="Calibri"/>
              <a:buNone/>
            </a:pPr>
            <a:r>
              <a:rPr b="1" i="0" lang="en-US" sz="1300" u="none" cap="none" strike="noStrike">
                <a:solidFill>
                  <a:srgbClr val="17242B"/>
                </a:solidFill>
                <a:latin typeface="Calibri"/>
                <a:ea typeface="Calibri"/>
                <a:cs typeface="Calibri"/>
                <a:sym typeface="Calibri"/>
              </a:rPr>
              <a:t>Campos Néstor Nazaret  ·  Gramajo Juan Ignacio  ·  Rollán Natalia</a:t>
            </a:r>
            <a:endParaRPr b="0" i="0" sz="1300" u="none" cap="none" strike="noStrike">
              <a:solidFill>
                <a:schemeClr val="dk1"/>
              </a:solidFill>
              <a:latin typeface="Calibri"/>
              <a:ea typeface="Calibri"/>
              <a:cs typeface="Calibri"/>
              <a:sym typeface="Calibri"/>
            </a:endParaRPr>
          </a:p>
        </p:txBody>
      </p:sp>
      <p:sp>
        <p:nvSpPr>
          <p:cNvPr id="227" name="Google Shape;227;p13"/>
          <p:cNvSpPr/>
          <p:nvPr/>
        </p:nvSpPr>
        <p:spPr>
          <a:xfrm>
            <a:off x="685800" y="4526280"/>
            <a:ext cx="73152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36363"/>
              </a:lnSpc>
              <a:spcBef>
                <a:spcPts val="0"/>
              </a:spcBef>
              <a:spcAft>
                <a:spcPts val="0"/>
              </a:spcAft>
              <a:buClr>
                <a:srgbClr val="5B7480"/>
              </a:buClr>
              <a:buSzPts val="1100"/>
              <a:buFont typeface="Calibri"/>
              <a:buNone/>
            </a:pPr>
            <a:r>
              <a:rPr b="0" i="0" lang="en-US" sz="1100" u="none" cap="none" strike="noStrike">
                <a:solidFill>
                  <a:srgbClr val="5B7480"/>
                </a:solidFill>
                <a:latin typeface="Calibri"/>
                <a:ea typeface="Calibri"/>
                <a:cs typeface="Calibri"/>
                <a:sym typeface="Calibri"/>
              </a:rPr>
              <a:t>Universidad Nacional de Tucumán · Facultad de Ciencias Exactas y Tecnología</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5B7480"/>
              </a:buClr>
              <a:buSzPts val="1100"/>
              <a:buFont typeface="Calibri"/>
              <a:buNone/>
            </a:pPr>
            <a:r>
              <a:rPr b="0" i="0" lang="en-US" sz="1100" u="none" cap="none" strike="noStrike">
                <a:solidFill>
                  <a:srgbClr val="5B7480"/>
                </a:solidFill>
                <a:latin typeface="Calibri"/>
                <a:ea typeface="Calibri"/>
                <a:cs typeface="Calibri"/>
                <a:sym typeface="Calibri"/>
              </a:rPr>
              <a:t>Patrones de Diseño — Licenciatura en Informática · 2026</a:t>
            </a:r>
            <a:endParaRPr b="0" i="0" sz="1100" u="none" cap="none" strike="noStrike">
              <a:solidFill>
                <a:schemeClr val="dk1"/>
              </a:solidFill>
              <a:latin typeface="Calibri"/>
              <a:ea typeface="Calibri"/>
              <a:cs typeface="Calibri"/>
              <a:sym typeface="Calibri"/>
            </a:endParaRPr>
          </a:p>
        </p:txBody>
      </p:sp>
      <p:sp>
        <p:nvSpPr>
          <p:cNvPr id="228" name="Google Shape;228;p13"/>
          <p:cNvSpPr/>
          <p:nvPr/>
        </p:nvSpPr>
        <p:spPr>
          <a:xfrm>
            <a:off x="685800" y="54864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8A9B"/>
              </a:buClr>
              <a:buSzPts val="1800"/>
              <a:buFont typeface="Cambria"/>
              <a:buNone/>
            </a:pPr>
            <a:r>
              <a:rPr b="1" i="0" lang="en-US" sz="1800" u="none" cap="none" strike="noStrike">
                <a:solidFill>
                  <a:srgbClr val="1B8A9B"/>
                </a:solidFill>
                <a:latin typeface="Cambria"/>
                <a:ea typeface="Cambria"/>
                <a:cs typeface="Cambria"/>
                <a:sym typeface="Cambria"/>
              </a:rPr>
              <a:t>¿Preguntas?</a:t>
            </a:r>
            <a:endParaRPr b="0" i="0" sz="1800" u="none" cap="none" strike="noStrike">
              <a:solidFill>
                <a:schemeClr val="dk1"/>
              </a:solidFill>
              <a:latin typeface="Calibri"/>
              <a:ea typeface="Calibri"/>
              <a:cs typeface="Calibri"/>
              <a:sym typeface="Calibri"/>
            </a:endParaRPr>
          </a:p>
        </p:txBody>
      </p:sp>
      <p:sp>
        <p:nvSpPr>
          <p:cNvPr id="229" name="Google Shape;229;p1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Sistema de Vuelos y Pasajes Aeronáuticos · Patrones de Diseño</a:t>
            </a:r>
            <a:endParaRPr b="0" i="0" sz="900" u="none" cap="none" strike="noStrike">
              <a:solidFill>
                <a:schemeClr val="dk1"/>
              </a:solidFill>
              <a:latin typeface="Calibri"/>
              <a:ea typeface="Calibri"/>
              <a:cs typeface="Calibri"/>
              <a:sym typeface="Calibri"/>
            </a:endParaRPr>
          </a:p>
        </p:txBody>
      </p:sp>
      <p:sp>
        <p:nvSpPr>
          <p:cNvPr id="230" name="Google Shape;230;p13"/>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7480"/>
              </a:buClr>
              <a:buSzPts val="900"/>
              <a:buFont typeface="Calibri"/>
              <a:buNone/>
            </a:pPr>
            <a:r>
              <a:rPr b="0" i="0" lang="en-US" sz="900" u="none" cap="none" strike="noStrike">
                <a:solidFill>
                  <a:srgbClr val="5B7480"/>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